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14C89C-BF61-4E7B-B3A4-B0BFC960C7E3}">
  <a:tblStyle styleId="{5014C89C-BF61-4E7B-B3A4-B0BFC960C7E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b7636d766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b7636d76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871134c8f_3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871134c8f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b7636d76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b7636d7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using decision trees, the model makes predictions by </a:t>
            </a:r>
            <a:r>
              <a:rPr lang="en"/>
              <a:t>splitting dataset into smaller, more similar groups using decision rules.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implement a decision tree, one can use the tree() function in R after importing the tree() library.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we :</a:t>
            </a:r>
            <a:endParaRPr/>
          </a:p>
          <a:p>
            <a:pPr indent="-317500" lvl="0" marL="457200" rtl="0" algn="l">
              <a:spcBef>
                <a:spcPts val="0"/>
              </a:spcBef>
              <a:spcAft>
                <a:spcPts val="0"/>
              </a:spcAft>
              <a:buSzPts val="1400"/>
              <a:buChar char="-"/>
            </a:pPr>
            <a:r>
              <a:rPr lang="en"/>
              <a:t>Split dataset into training and testing set</a:t>
            </a:r>
            <a:endParaRPr/>
          </a:p>
          <a:p>
            <a:pPr indent="-317500" lvl="0" marL="457200" rtl="0" algn="l">
              <a:spcBef>
                <a:spcPts val="0"/>
              </a:spcBef>
              <a:spcAft>
                <a:spcPts val="0"/>
              </a:spcAft>
              <a:buSzPts val="1400"/>
              <a:buChar char="-"/>
            </a:pPr>
            <a:r>
              <a:rPr lang="en"/>
              <a:t>Fit the decision tree with training data</a:t>
            </a:r>
            <a:endParaRPr/>
          </a:p>
          <a:p>
            <a:pPr indent="-317500" lvl="0" marL="457200" rtl="0" algn="l">
              <a:spcBef>
                <a:spcPts val="0"/>
              </a:spcBef>
              <a:spcAft>
                <a:spcPts val="0"/>
              </a:spcAft>
              <a:buSzPts val="1400"/>
              <a:buChar char="-"/>
            </a:pPr>
            <a:r>
              <a:rPr lang="en"/>
              <a:t>Grow a large tree</a:t>
            </a:r>
            <a:endParaRPr/>
          </a:p>
          <a:p>
            <a:pPr indent="-317500" lvl="0" marL="457200" rtl="0" algn="l">
              <a:spcBef>
                <a:spcPts val="0"/>
              </a:spcBef>
              <a:spcAft>
                <a:spcPts val="0"/>
              </a:spcAft>
              <a:buSzPts val="1400"/>
              <a:buChar char="-"/>
            </a:pPr>
            <a:r>
              <a:rPr lang="en"/>
              <a:t>If tree is large, can use cross-validation cv.tree() to determine the optimal tree. The optimal tree size is usually selected by minimizing the misclassification eror</a:t>
            </a:r>
            <a:endParaRPr/>
          </a:p>
          <a:p>
            <a:pPr indent="-317500" lvl="0" marL="457200" rtl="0" algn="l">
              <a:spcBef>
                <a:spcPts val="0"/>
              </a:spcBef>
              <a:spcAft>
                <a:spcPts val="0"/>
              </a:spcAft>
              <a:buSzPts val="1400"/>
              <a:buChar char="-"/>
            </a:pPr>
            <a:r>
              <a:rPr lang="en"/>
              <a:t>Prune the tree if necessary to prevent overfitting</a:t>
            </a:r>
            <a:endParaRPr/>
          </a:p>
          <a:p>
            <a:pPr indent="-317500" lvl="0" marL="457200" rtl="0" algn="l">
              <a:spcBef>
                <a:spcPts val="0"/>
              </a:spcBef>
              <a:spcAft>
                <a:spcPts val="0"/>
              </a:spcAft>
              <a:buSzPts val="1400"/>
              <a:buChar char="-"/>
            </a:pPr>
            <a:r>
              <a:rPr lang="en"/>
              <a:t>Use the final pruned tree to make prediction on test set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e60b24aa4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e60b24aa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In Bagging(which is also known as Bootstrap aggregation), we are basically training multiple models using </a:t>
            </a:r>
            <a:r>
              <a:rPr lang="en"/>
              <a:t>bootstrapping</a:t>
            </a:r>
            <a:r>
              <a:rPr lang="en"/>
              <a:t> then we are aggregating their results via voting or averaging. </a:t>
            </a:r>
            <a:endParaRPr/>
          </a:p>
          <a:p>
            <a:pPr indent="-317500" lvl="0" marL="457200" rtl="0" algn="l">
              <a:spcBef>
                <a:spcPts val="0"/>
              </a:spcBef>
              <a:spcAft>
                <a:spcPts val="0"/>
              </a:spcAft>
              <a:buSzPts val="1400"/>
              <a:buChar char="-"/>
            </a:pPr>
            <a:r>
              <a:rPr lang="en"/>
              <a:t>To implement it we follow the same approaches as discussed previously for decision tree where we first split out dataset into training and testing. </a:t>
            </a:r>
            <a:endParaRPr/>
          </a:p>
          <a:p>
            <a:pPr indent="-317500" lvl="0" marL="457200" rtl="0" algn="l">
              <a:spcBef>
                <a:spcPts val="0"/>
              </a:spcBef>
              <a:spcAft>
                <a:spcPts val="0"/>
              </a:spcAft>
              <a:buSzPts val="1400"/>
              <a:buChar char="-"/>
            </a:pPr>
            <a:r>
              <a:rPr lang="en"/>
              <a:t>We </a:t>
            </a:r>
            <a:r>
              <a:rPr lang="en"/>
              <a:t>obtain</a:t>
            </a:r>
            <a:r>
              <a:rPr lang="en"/>
              <a:t> the number of predictor variables that we have</a:t>
            </a:r>
            <a:endParaRPr/>
          </a:p>
          <a:p>
            <a:pPr indent="-317500" lvl="0" marL="457200" rtl="0" algn="l">
              <a:spcBef>
                <a:spcPts val="0"/>
              </a:spcBef>
              <a:spcAft>
                <a:spcPts val="0"/>
              </a:spcAft>
              <a:buSzPts val="1400"/>
              <a:buChar char="-"/>
            </a:pPr>
            <a:r>
              <a:rPr lang="en"/>
              <a:t>We use the random Forest function in R, indicate the response variable and predictions we want to use, we set mtry to p and indicate that importance be computed. </a:t>
            </a:r>
            <a:endParaRPr/>
          </a:p>
          <a:p>
            <a:pPr indent="0" lvl="0" marL="0" rtl="0" algn="l">
              <a:spcBef>
                <a:spcPts val="0"/>
              </a:spcBef>
              <a:spcAft>
                <a:spcPts val="0"/>
              </a:spcAft>
              <a:buNone/>
            </a:pPr>
            <a:r>
              <a:rPr lang="en"/>
              <a:t>Once the model is trained:</a:t>
            </a:r>
            <a:endParaRPr/>
          </a:p>
          <a:p>
            <a:pPr indent="-317500" lvl="0" marL="457200" rtl="0" algn="l">
              <a:spcBef>
                <a:spcPts val="0"/>
              </a:spcBef>
              <a:spcAft>
                <a:spcPts val="0"/>
              </a:spcAft>
              <a:buSzPts val="1400"/>
              <a:buChar char="-"/>
            </a:pPr>
            <a:r>
              <a:rPr lang="en"/>
              <a:t>Make predictions with test set.</a:t>
            </a:r>
            <a:endParaRPr/>
          </a:p>
          <a:p>
            <a:pPr indent="-317500" lvl="0" marL="457200" rtl="0" algn="l">
              <a:spcBef>
                <a:spcPts val="0"/>
              </a:spcBef>
              <a:spcAft>
                <a:spcPts val="0"/>
              </a:spcAft>
              <a:buSzPts val="1400"/>
              <a:buChar char="-"/>
            </a:pPr>
            <a:r>
              <a:rPr lang="en"/>
              <a:t>Evaluate performance - for classification problems can use recall, f1-score, error rate, accuracy, confusion matrix  while for regression we can use RMSE, MSE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e60b24aa4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e60b24aa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200">
                <a:solidFill>
                  <a:srgbClr val="202124"/>
                </a:solidFill>
                <a:highlight>
                  <a:srgbClr val="FFFFFF"/>
                </a:highlight>
                <a:latin typeface="Roboto"/>
                <a:ea typeface="Roboto"/>
                <a:cs typeface="Roboto"/>
                <a:sym typeface="Roboto"/>
              </a:rPr>
              <a:t>Random Forest is an ensemble learning method. Instead of relying on a single decision tree (which can easily overfit), Random Forest builds a “forest” of decision trees and aggregates their predictions.</a:t>
            </a:r>
            <a:endParaRPr/>
          </a:p>
          <a:p>
            <a:pPr indent="-317500" lvl="0" marL="457200" rtl="0" algn="l">
              <a:spcBef>
                <a:spcPts val="0"/>
              </a:spcBef>
              <a:spcAft>
                <a:spcPts val="0"/>
              </a:spcAft>
              <a:buSzPts val="1400"/>
              <a:buChar char="-"/>
            </a:pPr>
            <a:r>
              <a:rPr lang="en"/>
              <a:t>To implement it, we follow the same general approach as decision trees, where we first split the dataset into training and testing sets.</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We obtain the number of predictor variables (p).</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We use the randomForest() function in R:</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Specify the response variable and predictor variables</a:t>
            </a:r>
            <a:endParaRPr/>
          </a:p>
          <a:p>
            <a:pPr indent="-317500" lvl="0" marL="457200" rtl="0" algn="l">
              <a:spcBef>
                <a:spcPts val="0"/>
              </a:spcBef>
              <a:spcAft>
                <a:spcPts val="0"/>
              </a:spcAft>
              <a:buSzPts val="1400"/>
              <a:buChar char="-"/>
            </a:pPr>
            <a:r>
              <a:rPr lang="en"/>
              <a:t>Set mtry = sqrt(p) for classification problems and mtry = p/3 for regression problems</a:t>
            </a:r>
            <a:endParaRPr/>
          </a:p>
          <a:p>
            <a:pPr indent="-317500" lvl="0" marL="457200" rtl="0" algn="l">
              <a:spcBef>
                <a:spcPts val="0"/>
              </a:spcBef>
              <a:spcAft>
                <a:spcPts val="0"/>
              </a:spcAft>
              <a:buSzPts val="1400"/>
              <a:buChar char="-"/>
            </a:pPr>
            <a:r>
              <a:rPr lang="en"/>
              <a:t>Set importance = TRUE to assess variable importance</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Once the model is trained:</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Make predictions on the test set</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Model performance is evaluated using:</a:t>
            </a:r>
            <a:endParaRPr/>
          </a:p>
          <a:p>
            <a:pPr indent="-317500" lvl="0" marL="4572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a:t>For classification problems: accuracy, error rate, precision, recall, F1-score, and confusion matrix</a:t>
            </a:r>
            <a:endParaRPr/>
          </a:p>
          <a:p>
            <a:pPr indent="-317500" lvl="0" marL="457200" rtl="0" algn="l">
              <a:spcBef>
                <a:spcPts val="0"/>
              </a:spcBef>
              <a:spcAft>
                <a:spcPts val="0"/>
              </a:spcAft>
              <a:buSzPts val="1400"/>
              <a:buChar char="-"/>
            </a:pPr>
            <a:r>
              <a:rPr lang="en"/>
              <a:t>For regression problems: MSE (Mean Squared Error) and RMSE (Root Mean Squared Error)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e60b24aa4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e60b24aa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200">
                <a:solidFill>
                  <a:srgbClr val="202124"/>
                </a:solidFill>
                <a:highlight>
                  <a:srgbClr val="FFFFFF"/>
                </a:highlight>
                <a:latin typeface="Roboto"/>
                <a:ea typeface="Roboto"/>
                <a:cs typeface="Roboto"/>
                <a:sym typeface="Roboto"/>
              </a:rPr>
              <a:t>Boosting is an ensemble learning technique that improves predictive accuracy by building on multiple decision trees sequentially. Each new tree focuses on correcting the errors that have been made by the previous trees. </a:t>
            </a:r>
            <a:endParaRPr sz="12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Split data into test and training</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Obtain different shrinkage values</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Fit model using using the different shrinkage values</a:t>
            </a:r>
            <a:endParaRPr sz="1200">
              <a:solidFill>
                <a:srgbClr val="202124"/>
              </a:solidFill>
              <a:highlight>
                <a:srgbClr val="FFFFFF"/>
              </a:highlight>
              <a:latin typeface="Roboto"/>
              <a:ea typeface="Roboto"/>
              <a:cs typeface="Roboto"/>
              <a:sym typeface="Roboto"/>
            </a:endParaRPr>
          </a:p>
          <a:p>
            <a:pPr indent="-304800" lvl="1" marL="914400" rtl="0" algn="l">
              <a:spcBef>
                <a:spcPts val="0"/>
              </a:spcBef>
              <a:spcAft>
                <a:spcPts val="0"/>
              </a:spcAft>
              <a:buClr>
                <a:srgbClr val="202124"/>
              </a:buClr>
              <a:buSzPts val="1200"/>
              <a:buFont typeface="Roboto"/>
              <a:buAutoNum type="alphaLcPeriod"/>
            </a:pPr>
            <a:r>
              <a:rPr lang="en" sz="1200">
                <a:solidFill>
                  <a:srgbClr val="202124"/>
                </a:solidFill>
                <a:highlight>
                  <a:srgbClr val="FFFFFF"/>
                </a:highlight>
                <a:latin typeface="Roboto"/>
                <a:ea typeface="Roboto"/>
                <a:cs typeface="Roboto"/>
                <a:sym typeface="Roboto"/>
              </a:rPr>
              <a:t>N.trees - controls the number of trees in the mode</a:t>
            </a:r>
            <a:endParaRPr sz="1200">
              <a:solidFill>
                <a:srgbClr val="202124"/>
              </a:solidFill>
              <a:highlight>
                <a:srgbClr val="FFFFFF"/>
              </a:highlight>
              <a:latin typeface="Roboto"/>
              <a:ea typeface="Roboto"/>
              <a:cs typeface="Roboto"/>
              <a:sym typeface="Roboto"/>
            </a:endParaRPr>
          </a:p>
          <a:p>
            <a:pPr indent="-304800" lvl="1" marL="914400" rtl="0" algn="l">
              <a:spcBef>
                <a:spcPts val="0"/>
              </a:spcBef>
              <a:spcAft>
                <a:spcPts val="0"/>
              </a:spcAft>
              <a:buClr>
                <a:srgbClr val="202124"/>
              </a:buClr>
              <a:buSzPts val="1200"/>
              <a:buFont typeface="Roboto"/>
              <a:buAutoNum type="alphaLcPeriod"/>
            </a:pPr>
            <a:r>
              <a:rPr lang="en" sz="1200">
                <a:solidFill>
                  <a:srgbClr val="202124"/>
                </a:solidFill>
                <a:highlight>
                  <a:srgbClr val="FFFFFF"/>
                </a:highlight>
                <a:latin typeface="Roboto"/>
                <a:ea typeface="Roboto"/>
                <a:cs typeface="Roboto"/>
                <a:sym typeface="Roboto"/>
              </a:rPr>
              <a:t>Interaction.depth - controls complexity of tree</a:t>
            </a:r>
            <a:endParaRPr sz="1200">
              <a:solidFill>
                <a:srgbClr val="202124"/>
              </a:solidFill>
              <a:highlight>
                <a:srgbClr val="FFFFFF"/>
              </a:highlight>
              <a:latin typeface="Roboto"/>
              <a:ea typeface="Roboto"/>
              <a:cs typeface="Roboto"/>
              <a:sym typeface="Roboto"/>
            </a:endParaRPr>
          </a:p>
          <a:p>
            <a:pPr indent="-304800" lvl="1" marL="914400" rtl="0" algn="l">
              <a:spcBef>
                <a:spcPts val="0"/>
              </a:spcBef>
              <a:spcAft>
                <a:spcPts val="0"/>
              </a:spcAft>
              <a:buClr>
                <a:srgbClr val="202124"/>
              </a:buClr>
              <a:buSzPts val="1200"/>
              <a:buFont typeface="Roboto"/>
              <a:buAutoNum type="alphaLcPeriod"/>
            </a:pPr>
            <a:r>
              <a:rPr lang="en" sz="1200">
                <a:solidFill>
                  <a:srgbClr val="202124"/>
                </a:solidFill>
                <a:highlight>
                  <a:srgbClr val="FFFFFF"/>
                </a:highlight>
                <a:latin typeface="Roboto"/>
                <a:ea typeface="Roboto"/>
                <a:cs typeface="Roboto"/>
                <a:sym typeface="Roboto"/>
              </a:rPr>
              <a:t>s</a:t>
            </a:r>
            <a:r>
              <a:rPr lang="en" sz="1200">
                <a:solidFill>
                  <a:srgbClr val="202124"/>
                </a:solidFill>
                <a:highlight>
                  <a:srgbClr val="FFFFFF"/>
                </a:highlight>
                <a:latin typeface="Roboto"/>
                <a:ea typeface="Roboto"/>
                <a:cs typeface="Roboto"/>
                <a:sym typeface="Roboto"/>
              </a:rPr>
              <a:t>hrinkage - controls learning rate of tree(smaller shrinkage = slower leaning, better generalization; larger shrinkage = faster learning but risk of overfitting)</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Make prediction on the test dataset</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Evaluate performance - find MSE/RMSE for the different shrinkage value</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Choose the one that minimizes prediction error</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Refit the model using the derived optimal shrinkage</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Perform final prediction with the new model </a:t>
            </a:r>
            <a:endParaRPr sz="1200">
              <a:solidFill>
                <a:srgbClr val="202124"/>
              </a:solidFill>
              <a:highlight>
                <a:srgbClr val="FFFFFF"/>
              </a:highlight>
              <a:latin typeface="Roboto"/>
              <a:ea typeface="Roboto"/>
              <a:cs typeface="Roboto"/>
              <a:sym typeface="Roboto"/>
            </a:endParaRPr>
          </a:p>
          <a:p>
            <a:pPr indent="-304800" lvl="0" marL="457200" rtl="0" algn="l">
              <a:spcBef>
                <a:spcPts val="0"/>
              </a:spcBef>
              <a:spcAft>
                <a:spcPts val="0"/>
              </a:spcAft>
              <a:buClr>
                <a:srgbClr val="202124"/>
              </a:buClr>
              <a:buSzPts val="1200"/>
              <a:buFont typeface="Roboto"/>
              <a:buAutoNum type="arabicPeriod"/>
            </a:pPr>
            <a:r>
              <a:rPr lang="en" sz="1200">
                <a:solidFill>
                  <a:srgbClr val="202124"/>
                </a:solidFill>
                <a:highlight>
                  <a:srgbClr val="FFFFFF"/>
                </a:highlight>
                <a:latin typeface="Roboto"/>
                <a:ea typeface="Roboto"/>
                <a:cs typeface="Roboto"/>
                <a:sym typeface="Roboto"/>
              </a:rPr>
              <a:t>Evaluate performance using RMSE or MSE or other metrics for classification such as accuracy, error, f1-score, recall </a:t>
            </a:r>
            <a:endParaRPr sz="1200">
              <a:solidFill>
                <a:srgbClr val="202124"/>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02124"/>
              </a:solidFill>
              <a:highlight>
                <a:srgbClr val="FFFFFF"/>
              </a:highlight>
              <a:latin typeface="Roboto"/>
              <a:ea typeface="Roboto"/>
              <a:cs typeface="Roboto"/>
              <a:sym typeface="Roboto"/>
            </a:endParaRPr>
          </a:p>
          <a:p>
            <a:pPr indent="-317500" lvl="0" marL="457200" rtl="0" algn="l">
              <a:spcBef>
                <a:spcPts val="0"/>
              </a:spcBef>
              <a:spcAft>
                <a:spcPts val="0"/>
              </a:spcAft>
              <a:buSzPts val="1400"/>
              <a:buChar char="-"/>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e60b24aa4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e60b24a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e60b24aa4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e60b24aa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data preparation process is clearly described and correctly implemented. The dataset was first cleaned by handling missing values and recoding variables into appropriate formats to ensure they are suitable for modeling. Special survey response codes were carefully reviewed and treated appropriately to avoid incorrect interpretations in the analysis. In addition, relevant predictor variables were selected based on demographic, parental, and religiosity factors, and were renamed to improve clarity and interpretability.</a:t>
            </a:r>
            <a:endParaRPr/>
          </a:p>
          <a:p>
            <a:pPr indent="0" lvl="0" marL="0" rtl="0" algn="l">
              <a:lnSpc>
                <a:spcPct val="115000"/>
              </a:lnSpc>
              <a:spcBef>
                <a:spcPts val="1200"/>
              </a:spcBef>
              <a:spcAft>
                <a:spcPts val="0"/>
              </a:spcAft>
              <a:buClr>
                <a:schemeClr val="dk1"/>
              </a:buClr>
              <a:buSzPts val="1100"/>
              <a:buFont typeface="Arial"/>
              <a:buNone/>
            </a:pPr>
            <a:r>
              <a:rPr lang="en"/>
              <a:t>All models and methods used in this analysis are carefully considered and correctly implemented based on the type of prediction problem. Decision trees are used as the baseline model, and ensemble methods such as random forest, bagging, and boosting are applied to improve predictive performance. Each method is chosen appropriately depending on whether the task is classification or regression.</a:t>
            </a:r>
            <a:endParaRPr/>
          </a:p>
          <a:p>
            <a:pPr indent="0" lvl="0" marL="0" rtl="0" algn="l">
              <a:lnSpc>
                <a:spcPct val="115000"/>
              </a:lnSpc>
              <a:spcBef>
                <a:spcPts val="1200"/>
              </a:spcBef>
              <a:spcAft>
                <a:spcPts val="0"/>
              </a:spcAft>
              <a:buClr>
                <a:schemeClr val="dk1"/>
              </a:buClr>
              <a:buSzPts val="1100"/>
              <a:buFont typeface="Arial"/>
              <a:buNone/>
            </a:pPr>
            <a:r>
              <a:rPr lang="en"/>
              <a:t>The overall procedure is described in enough detail that it can be fully reproduced. This includes the steps for data preprocessing, variable selection, train-test splitting, model training, hyperparameter tuning, and model evaluation using appropriate performance metrics.</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e60b24aa4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e60b24aa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e60b24aa4_0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e60b24aa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e60b24aa4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e60b24aa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decision tree obtained from our binary classiffcaition problem shows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A</a:t>
            </a:r>
            <a:r>
              <a:rPr lang="en"/>
              <a:t>n unpruned tree</a:t>
            </a:r>
            <a:endParaRPr/>
          </a:p>
          <a:p>
            <a:pPr indent="-317500" lvl="0" marL="457200" rtl="0" algn="l">
              <a:spcBef>
                <a:spcPts val="0"/>
              </a:spcBef>
              <a:spcAft>
                <a:spcPts val="0"/>
              </a:spcAft>
              <a:buSzPts val="1400"/>
              <a:buChar char="-"/>
            </a:pPr>
            <a:r>
              <a:rPr lang="en"/>
              <a:t>Pruned tree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Unpruned Tree</a:t>
            </a:r>
            <a:endParaRPr/>
          </a:p>
          <a:p>
            <a:pPr indent="0" lvl="0" marL="0" rtl="0" algn="l">
              <a:spcBef>
                <a:spcPts val="0"/>
              </a:spcBef>
              <a:spcAft>
                <a:spcPts val="0"/>
              </a:spcAft>
              <a:buNone/>
            </a:pPr>
            <a:r>
              <a:rPr lang="en">
                <a:solidFill>
                  <a:schemeClr val="dk1"/>
                </a:solidFill>
              </a:rPr>
              <a:t>For the terminal node predicting “Never Used,” the decision tree shows that parental disapproval of marijuana is the most important determining factor. As we follow the path toward this outcome, even though the model includes a split on whether parents limit TV time, this variable does not meaningfully change the prediction—both branches still lead to “Never Used.” This indicates that once strong parental disapproval is present, additional household rules like TV limits have little impact on the outcome. In contrast, on the opposite side of the tree, when parents do not strongly disapprove of marijuana use, the model predicts that the youth is more likely to have used marijuana, highlighting the central role of parental attitudes in shaping this behavior.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Pruned Tree</a:t>
            </a:r>
            <a:endParaRPr>
              <a:solidFill>
                <a:schemeClr val="dk1"/>
              </a:solidFill>
            </a:endParaRPr>
          </a:p>
          <a:p>
            <a:pPr indent="0" lvl="0" marL="0" rtl="0" algn="l">
              <a:spcBef>
                <a:spcPts val="0"/>
              </a:spcBef>
              <a:spcAft>
                <a:spcPts val="0"/>
              </a:spcAft>
              <a:buNone/>
            </a:pPr>
            <a:r>
              <a:rPr lang="en">
                <a:solidFill>
                  <a:schemeClr val="dk1"/>
                </a:solidFill>
              </a:rPr>
              <a:t>On the right plot, we see that removing unnecessary the unnecessary branch simplifies the model without substantially reducing predictive power. The additional split present in the unpruned tree such as branch involving Parents limits on TV time is eliminated since it does not meaningfully improve classification outcomes.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e60b24aa4_0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e60b24aa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e60b24aa4_0_9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e60b24aa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model achieved an error rate of approximately </a:t>
            </a:r>
            <a:r>
              <a:rPr b="1" lang="en">
                <a:solidFill>
                  <a:schemeClr val="dk1"/>
                </a:solidFill>
              </a:rPr>
              <a:t>7%</a:t>
            </a:r>
            <a:r>
              <a:rPr lang="en">
                <a:solidFill>
                  <a:schemeClr val="dk1"/>
                </a:solidFill>
              </a:rPr>
              <a:t>, suggesting strong predictive performance and indicating that the random forest is effective at capturing complex relationships among these factors.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However, it is important to note that there is a </a:t>
            </a:r>
            <a:r>
              <a:rPr b="1" lang="en">
                <a:solidFill>
                  <a:schemeClr val="dk1"/>
                </a:solidFill>
              </a:rPr>
              <a:t>class imbalance issue</a:t>
            </a:r>
            <a:r>
              <a:rPr lang="en">
                <a:solidFill>
                  <a:schemeClr val="dk1"/>
                </a:solidFill>
              </a:rPr>
              <a:t>, as the model predicted all observations as </a:t>
            </a:r>
            <a:r>
              <a:rPr b="1" lang="en">
                <a:solidFill>
                  <a:schemeClr val="dk1"/>
                </a:solidFill>
              </a:rPr>
              <a:t>Non-User</a:t>
            </a:r>
            <a:r>
              <a:rPr lang="en">
                <a:solidFill>
                  <a:schemeClr val="dk1"/>
                </a:solidFill>
              </a:rPr>
              <a:t>. This means that the low error rate is likely misleading, since it reflects the dominance of the majority class rather than true predictive accuracy across all groups.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As a result, the model may perform poorly in identifying youths who do use drugs, and additional steps—such as resampling techniques or using alternative evaluation metrics (e.g., precision, recall, or F1-score)—would be necessary to better assess and improve performance on minority classes.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e60b24aa4_0_1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e60b24aa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e60b24aa4_0_1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e60b24aa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improve model, assign class weights give more importance to minority class so model is penlized more for misclassiftjng them</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e60b24aa4_0_1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e60b24aa4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The variables of most importance in predicting if a youth consumes drug include:</a:t>
            </a:r>
            <a:endParaRPr sz="1800">
              <a:solidFill>
                <a:schemeClr val="dk1"/>
              </a:solidFill>
              <a:highlight>
                <a:schemeClr val="lt1"/>
              </a:highlight>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Parent_Disapproval_Marijuana(PRMJEVR2)</a:t>
            </a:r>
            <a:endParaRPr sz="1800">
              <a:solidFill>
                <a:schemeClr val="dk1"/>
              </a:solidFill>
              <a:highlight>
                <a:schemeClr val="lt1"/>
              </a:highlight>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Poverty_Level(POVERTY3)</a:t>
            </a:r>
            <a:endParaRPr sz="1800">
              <a:solidFill>
                <a:schemeClr val="dk1"/>
              </a:solidFill>
              <a:highlight>
                <a:schemeClr val="lt1"/>
              </a:highlight>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Family_Income(INCOME)</a:t>
            </a:r>
            <a:endParaRPr sz="1800">
              <a:solidFill>
                <a:schemeClr val="dk1"/>
              </a:solidFill>
              <a:highlight>
                <a:schemeClr val="lt1"/>
              </a:highlight>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Religion_important (RLGDCSN - how important religion is to an individual’s decision)</a:t>
            </a:r>
            <a:endParaRPr sz="1800">
              <a:solidFill>
                <a:schemeClr val="dk1"/>
              </a:solidFill>
              <a:highlight>
                <a:schemeClr val="lt1"/>
              </a:highlight>
            </a:endParaRPr>
          </a:p>
          <a:p>
            <a:pPr indent="0" lvl="0" marL="0" rtl="0" algn="l">
              <a:lnSpc>
                <a:spcPct val="115000"/>
              </a:lnSpc>
              <a:spcBef>
                <a:spcPts val="0"/>
              </a:spcBef>
              <a:spcAft>
                <a:spcPts val="0"/>
              </a:spcAft>
              <a:buNone/>
            </a:pPr>
            <a:r>
              <a:t/>
            </a:r>
            <a:endParaRPr sz="1800">
              <a:solidFill>
                <a:schemeClr val="dk1"/>
              </a:solidFill>
              <a:highlight>
                <a:schemeClr val="lt1"/>
              </a:highlight>
            </a:endParaRPr>
          </a:p>
          <a:p>
            <a:pPr indent="0" lvl="0" marL="0" rtl="0" algn="l">
              <a:lnSpc>
                <a:spcPct val="115000"/>
              </a:lnSpc>
              <a:spcBef>
                <a:spcPts val="0"/>
              </a:spcBef>
              <a:spcAft>
                <a:spcPts val="0"/>
              </a:spcAft>
              <a:buNone/>
            </a:pPr>
            <a:r>
              <a:t/>
            </a:r>
            <a:endParaRPr sz="1800">
              <a:solidFill>
                <a:schemeClr val="dk1"/>
              </a:solidFill>
              <a:highlight>
                <a:schemeClr val="lt1"/>
              </a:highlight>
            </a:endParaRPr>
          </a:p>
          <a:p>
            <a:pPr indent="0" lvl="0" marL="0" rtl="0" algn="l">
              <a:lnSpc>
                <a:spcPct val="115000"/>
              </a:lnSpc>
              <a:spcBef>
                <a:spcPts val="0"/>
              </a:spcBef>
              <a:spcAft>
                <a:spcPts val="0"/>
              </a:spcAft>
              <a:buNone/>
            </a:pPr>
            <a:r>
              <a:rPr lang="en" sz="1800">
                <a:solidFill>
                  <a:schemeClr val="dk1"/>
                </a:solidFill>
                <a:highlight>
                  <a:schemeClr val="lt1"/>
                </a:highlight>
              </a:rPr>
              <a:t>When interpreting the results, we need to stay away from making certain assumptions such as “an individual whose parent strong disapprove marijuana will likely not use drugs” and instead interpreting it in a more probabilistic nature such as “individuals who report strong parental disapproval are more likely to use drugs on average.</a:t>
            </a:r>
            <a:endParaRPr sz="1800">
              <a:solidFill>
                <a:schemeClr val="dk1"/>
              </a:solidFill>
              <a:highlight>
                <a:schemeClr val="lt1"/>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e60b24aa4_0_1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de60b24aa4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23850" lvl="0" marL="457200" rtl="0" algn="l">
              <a:lnSpc>
                <a:spcPct val="115000"/>
              </a:lnSpc>
              <a:spcBef>
                <a:spcPts val="0"/>
              </a:spcBef>
              <a:spcAft>
                <a:spcPts val="0"/>
              </a:spcAft>
              <a:buClr>
                <a:srgbClr val="181E25"/>
              </a:buClr>
              <a:buSzPts val="1500"/>
              <a:buChar char="-"/>
            </a:pPr>
            <a:r>
              <a:rPr lang="en" sz="1600">
                <a:solidFill>
                  <a:srgbClr val="181E25"/>
                </a:solidFill>
                <a:highlight>
                  <a:srgbClr val="FFFFFF"/>
                </a:highlight>
              </a:rPr>
              <a:t>In binary, decisions are more simplistic as the model makes decision based on straightforward splits. For ordinal, the model will have to capture the order the order that exists for each level. For numerical variables, the model is able to analyze the non linear patterns that might exist in the data which allows for improved prediction performance. </a:t>
            </a:r>
            <a:endParaRPr sz="1600">
              <a:solidFill>
                <a:srgbClr val="181E25"/>
              </a:solidFill>
              <a:highlight>
                <a:srgbClr val="FFFFFF"/>
              </a:highlight>
            </a:endParaRPr>
          </a:p>
          <a:p>
            <a:pPr indent="0" lvl="0" marL="0" rtl="0" algn="l">
              <a:lnSpc>
                <a:spcPct val="115000"/>
              </a:lnSpc>
              <a:spcBef>
                <a:spcPts val="0"/>
              </a:spcBef>
              <a:spcAft>
                <a:spcPts val="0"/>
              </a:spcAft>
              <a:buNone/>
            </a:pPr>
            <a:r>
              <a:t/>
            </a:r>
            <a:endParaRPr sz="1800">
              <a:solidFill>
                <a:schemeClr val="dk1"/>
              </a:solidFill>
              <a:highlight>
                <a:schemeClr val="lt1"/>
              </a:highlight>
            </a:endParaRPr>
          </a:p>
          <a:p>
            <a:pPr indent="0" lvl="0" marL="0" rtl="0" algn="l">
              <a:lnSpc>
                <a:spcPct val="115000"/>
              </a:lnSpc>
              <a:spcBef>
                <a:spcPts val="0"/>
              </a:spcBef>
              <a:spcAft>
                <a:spcPts val="0"/>
              </a:spcAft>
              <a:buNone/>
            </a:pPr>
            <a:r>
              <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Binary focuses on whether a particular factor matter or not.</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Ordinal focus on the increments or decrements between levels of a variable and how they relate to the outcome. </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highlight>
                  <a:schemeClr val="lt1"/>
                </a:highlight>
              </a:rPr>
              <a:t>Numerical captures variation and potential thresholds in data. </a:t>
            </a:r>
            <a:endParaRPr sz="1800">
              <a:solidFill>
                <a:schemeClr val="dk1"/>
              </a:solidFill>
              <a:highlight>
                <a:schemeClr val="lt1"/>
              </a:highlight>
            </a:endParaRPr>
          </a:p>
          <a:p>
            <a:pPr indent="0" lvl="0" marL="0" rtl="0" algn="l">
              <a:lnSpc>
                <a:spcPct val="115000"/>
              </a:lnSpc>
              <a:spcBef>
                <a:spcPts val="0"/>
              </a:spcBef>
              <a:spcAft>
                <a:spcPts val="0"/>
              </a:spcAft>
              <a:buNone/>
            </a:pPr>
            <a:r>
              <a:t/>
            </a:r>
            <a:endParaRPr sz="1800">
              <a:solidFill>
                <a:schemeClr val="dk1"/>
              </a:solidFill>
              <a:highlight>
                <a:schemeClr val="lt1"/>
              </a:highlight>
            </a:endParaRPr>
          </a:p>
          <a:p>
            <a:pPr indent="0" lvl="0" marL="0" rtl="0" algn="l">
              <a:lnSpc>
                <a:spcPct val="115000"/>
              </a:lnSpc>
              <a:spcBef>
                <a:spcPts val="0"/>
              </a:spcBef>
              <a:spcAft>
                <a:spcPts val="0"/>
              </a:spcAft>
              <a:buNone/>
            </a:pPr>
            <a:r>
              <a:rPr lang="en" sz="1800">
                <a:solidFill>
                  <a:schemeClr val="dk1"/>
                </a:solidFill>
                <a:highlight>
                  <a:schemeClr val="lt1"/>
                </a:highlight>
              </a:rPr>
              <a:t>We use binary when we can classify our outcomes into 2 categories. </a:t>
            </a:r>
            <a:endParaRPr sz="1800">
              <a:solidFill>
                <a:schemeClr val="dk1"/>
              </a:solidFill>
              <a:highlight>
                <a:schemeClr val="lt1"/>
              </a:highlight>
            </a:endParaRPr>
          </a:p>
          <a:p>
            <a:pPr indent="0" lvl="0" marL="0" rtl="0" algn="l">
              <a:lnSpc>
                <a:spcPct val="115000"/>
              </a:lnSpc>
              <a:spcBef>
                <a:spcPts val="0"/>
              </a:spcBef>
              <a:spcAft>
                <a:spcPts val="0"/>
              </a:spcAft>
              <a:buNone/>
            </a:pPr>
            <a:r>
              <a:rPr lang="en" sz="1800">
                <a:solidFill>
                  <a:schemeClr val="dk1"/>
                </a:solidFill>
                <a:highlight>
                  <a:schemeClr val="lt1"/>
                </a:highlight>
              </a:rPr>
              <a:t>Ordinal is important when order matters and we want to preserve structure.</a:t>
            </a:r>
            <a:endParaRPr sz="1800">
              <a:solidFill>
                <a:schemeClr val="dk1"/>
              </a:solidFill>
              <a:highlight>
                <a:schemeClr val="lt1"/>
              </a:highlight>
            </a:endParaRPr>
          </a:p>
          <a:p>
            <a:pPr indent="0" lvl="0" marL="0" rtl="0" algn="l">
              <a:lnSpc>
                <a:spcPct val="115000"/>
              </a:lnSpc>
              <a:spcBef>
                <a:spcPts val="0"/>
              </a:spcBef>
              <a:spcAft>
                <a:spcPts val="0"/>
              </a:spcAft>
              <a:buNone/>
            </a:pPr>
            <a:r>
              <a:rPr lang="en" sz="1800">
                <a:solidFill>
                  <a:schemeClr val="dk1"/>
                </a:solidFill>
                <a:highlight>
                  <a:schemeClr val="lt1"/>
                </a:highlight>
              </a:rPr>
              <a:t>We can use numerical when the data involved in truly continuous and when small differences between values are meaningful for prediction. </a:t>
            </a:r>
            <a:endParaRPr sz="1800">
              <a:solidFill>
                <a:schemeClr val="dk1"/>
              </a:solidFill>
              <a:highlight>
                <a:schemeClr val="lt1"/>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e60b24aa4_0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de60b24aa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improve model, assign class weights give more importance to minority class so model is penlized more for misclassiftjng them</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ba7b7f115_1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ba7b7f115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245377"/>
            <a:ext cx="8222100" cy="13686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t>Youth Drug Usage Data Analysis</a:t>
            </a:r>
            <a:endParaRPr/>
          </a:p>
          <a:p>
            <a:pPr indent="0" lvl="0" marL="0" rtl="0" algn="l">
              <a:lnSpc>
                <a:spcPct val="115000"/>
              </a:lnSpc>
              <a:spcBef>
                <a:spcPts val="0"/>
              </a:spcBef>
              <a:spcAft>
                <a:spcPts val="0"/>
              </a:spcAft>
              <a:buNone/>
            </a:pPr>
            <a:r>
              <a:rPr lang="en" sz="1800">
                <a:solidFill>
                  <a:schemeClr val="lt2"/>
                </a:solidFill>
              </a:rPr>
              <a:t>DATA 5322 Homework 1 </a:t>
            </a:r>
            <a:endParaRPr sz="1800">
              <a:solidFill>
                <a:schemeClr val="lt2"/>
              </a:solidFill>
            </a:endParaRPr>
          </a:p>
          <a:p>
            <a:pPr indent="0" lvl="0" marL="0" rtl="0" algn="l">
              <a:lnSpc>
                <a:spcPct val="115000"/>
              </a:lnSpc>
              <a:spcBef>
                <a:spcPts val="0"/>
              </a:spcBef>
              <a:spcAft>
                <a:spcPts val="0"/>
              </a:spcAft>
              <a:buNone/>
            </a:pPr>
            <a:r>
              <a:rPr lang="en" sz="1800">
                <a:solidFill>
                  <a:schemeClr val="lt2"/>
                </a:solidFill>
              </a:rPr>
              <a:t>DUE: April 12, 2026</a:t>
            </a:r>
            <a:endParaRPr sz="1800">
              <a:solidFill>
                <a:schemeClr val="lt2"/>
              </a:solidFill>
            </a:endParaRPr>
          </a:p>
        </p:txBody>
      </p:sp>
      <p:sp>
        <p:nvSpPr>
          <p:cNvPr id="86" name="Google Shape;86;p13"/>
          <p:cNvSpPr txBox="1"/>
          <p:nvPr>
            <p:ph idx="1" type="subTitle"/>
          </p:nvPr>
        </p:nvSpPr>
        <p:spPr>
          <a:xfrm>
            <a:off x="598100" y="3694569"/>
            <a:ext cx="8222100" cy="8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By: </a:t>
            </a:r>
            <a:r>
              <a:rPr b="1" lang="en" sz="1500"/>
              <a:t> </a:t>
            </a:r>
            <a:r>
              <a:rPr lang="en" sz="1500"/>
              <a:t>Edwin Okwor</a:t>
            </a:r>
            <a:endParaRPr sz="1500"/>
          </a:p>
        </p:txBody>
      </p:sp>
      <p:sp>
        <p:nvSpPr>
          <p:cNvPr id="87" name="Google Shape;87;p1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a:t>
            </a:r>
            <a:endParaRPr/>
          </a:p>
        </p:txBody>
      </p:sp>
      <p:sp>
        <p:nvSpPr>
          <p:cNvPr id="93" name="Google Shape;93;p14"/>
          <p:cNvSpPr/>
          <p:nvPr/>
        </p:nvSpPr>
        <p:spPr>
          <a:xfrm>
            <a:off x="432350" y="1304875"/>
            <a:ext cx="2469300" cy="607800"/>
          </a:xfrm>
          <a:prstGeom prst="homePlate">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94" name="Google Shape;94;p14"/>
          <p:cNvSpPr txBox="1"/>
          <p:nvPr>
            <p:ph idx="4294967295" type="body"/>
          </p:nvPr>
        </p:nvSpPr>
        <p:spPr>
          <a:xfrm>
            <a:off x="326475" y="1451576"/>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Introduction</a:t>
            </a:r>
            <a:endParaRPr b="1" sz="1600">
              <a:solidFill>
                <a:schemeClr val="lt1"/>
              </a:solidFill>
            </a:endParaRPr>
          </a:p>
        </p:txBody>
      </p:sp>
      <p:sp>
        <p:nvSpPr>
          <p:cNvPr id="95" name="Google Shape;95;p14"/>
          <p:cNvSpPr txBox="1"/>
          <p:nvPr>
            <p:ph idx="4294967295" type="body"/>
          </p:nvPr>
        </p:nvSpPr>
        <p:spPr>
          <a:xfrm>
            <a:off x="432350" y="1939388"/>
            <a:ext cx="2471700" cy="1255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Research question</a:t>
            </a:r>
            <a:endParaRPr sz="1400"/>
          </a:p>
          <a:p>
            <a:pPr indent="-317500" lvl="0" marL="457200" rtl="0" algn="l">
              <a:spcBef>
                <a:spcPts val="0"/>
              </a:spcBef>
              <a:spcAft>
                <a:spcPts val="0"/>
              </a:spcAft>
              <a:buSzPts val="1400"/>
              <a:buChar char="●"/>
            </a:pPr>
            <a:r>
              <a:rPr lang="en" sz="1400"/>
              <a:t>Why youth drug use matters?</a:t>
            </a:r>
            <a:endParaRPr sz="1400"/>
          </a:p>
          <a:p>
            <a:pPr indent="-317500" lvl="0" marL="457200" rtl="0" algn="l">
              <a:spcBef>
                <a:spcPts val="0"/>
              </a:spcBef>
              <a:spcAft>
                <a:spcPts val="0"/>
              </a:spcAft>
              <a:buSzPts val="1400"/>
              <a:buChar char="●"/>
            </a:pPr>
            <a:r>
              <a:rPr lang="en" sz="1400"/>
              <a:t>Models that will be used</a:t>
            </a:r>
            <a:endParaRPr sz="1400"/>
          </a:p>
          <a:p>
            <a:pPr indent="0" lvl="0" marL="457200" rtl="0" algn="l">
              <a:spcBef>
                <a:spcPts val="800"/>
              </a:spcBef>
              <a:spcAft>
                <a:spcPts val="800"/>
              </a:spcAft>
              <a:buNone/>
            </a:pPr>
            <a:r>
              <a:t/>
            </a:r>
            <a:endParaRPr b="1" sz="1400"/>
          </a:p>
        </p:txBody>
      </p:sp>
      <p:sp>
        <p:nvSpPr>
          <p:cNvPr id="96" name="Google Shape;96;p14"/>
          <p:cNvSpPr/>
          <p:nvPr/>
        </p:nvSpPr>
        <p:spPr>
          <a:xfrm>
            <a:off x="3044777"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97" name="Google Shape;97;p14"/>
          <p:cNvSpPr txBox="1"/>
          <p:nvPr>
            <p:ph idx="4294967295" type="body"/>
          </p:nvPr>
        </p:nvSpPr>
        <p:spPr>
          <a:xfrm>
            <a:off x="3270525" y="1304874"/>
            <a:ext cx="2309100" cy="6078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Theoretical</a:t>
            </a:r>
            <a:r>
              <a:rPr b="1" lang="en" sz="1600">
                <a:solidFill>
                  <a:schemeClr val="lt1"/>
                </a:solidFill>
              </a:rPr>
              <a:t> Background</a:t>
            </a:r>
            <a:endParaRPr b="1" sz="1600">
              <a:solidFill>
                <a:schemeClr val="lt1"/>
              </a:solidFill>
            </a:endParaRPr>
          </a:p>
        </p:txBody>
      </p:sp>
      <p:sp>
        <p:nvSpPr>
          <p:cNvPr id="98" name="Google Shape;98;p14"/>
          <p:cNvSpPr txBox="1"/>
          <p:nvPr>
            <p:ph idx="4294967295" type="body"/>
          </p:nvPr>
        </p:nvSpPr>
        <p:spPr>
          <a:xfrm>
            <a:off x="3087038" y="1911400"/>
            <a:ext cx="3221700" cy="1255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Decision trees &amp; Ensemble Methods</a:t>
            </a:r>
            <a:endParaRPr sz="1400"/>
          </a:p>
          <a:p>
            <a:pPr indent="-317500" lvl="0" marL="457200" rtl="0" algn="l">
              <a:spcBef>
                <a:spcPts val="0"/>
              </a:spcBef>
              <a:spcAft>
                <a:spcPts val="0"/>
              </a:spcAft>
              <a:buSzPts val="1400"/>
              <a:buChar char="●"/>
            </a:pPr>
            <a:r>
              <a:rPr lang="en" sz="1400"/>
              <a:t>Classification vs Regression</a:t>
            </a:r>
            <a:endParaRPr sz="1400"/>
          </a:p>
          <a:p>
            <a:pPr indent="0" lvl="0" marL="0" rtl="0" algn="l">
              <a:spcBef>
                <a:spcPts val="800"/>
              </a:spcBef>
              <a:spcAft>
                <a:spcPts val="0"/>
              </a:spcAft>
              <a:buNone/>
            </a:pPr>
            <a:r>
              <a:t/>
            </a:r>
            <a:endParaRPr sz="1400"/>
          </a:p>
          <a:p>
            <a:pPr indent="0" lvl="0" marL="457200" rtl="0" algn="l">
              <a:spcBef>
                <a:spcPts val="800"/>
              </a:spcBef>
              <a:spcAft>
                <a:spcPts val="800"/>
              </a:spcAft>
              <a:buNone/>
            </a:pPr>
            <a:r>
              <a:t/>
            </a:r>
            <a:endParaRPr sz="1500"/>
          </a:p>
        </p:txBody>
      </p:sp>
      <p:sp>
        <p:nvSpPr>
          <p:cNvPr id="99" name="Google Shape;99;p14"/>
          <p:cNvSpPr/>
          <p:nvPr/>
        </p:nvSpPr>
        <p:spPr>
          <a:xfrm>
            <a:off x="3052852" y="3312650"/>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00" name="Google Shape;100;p14"/>
          <p:cNvSpPr txBox="1"/>
          <p:nvPr>
            <p:ph idx="4294967295" type="body"/>
          </p:nvPr>
        </p:nvSpPr>
        <p:spPr>
          <a:xfrm>
            <a:off x="3243533" y="3459351"/>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Discussion</a:t>
            </a:r>
            <a:endParaRPr b="1" sz="1600">
              <a:solidFill>
                <a:schemeClr val="lt1"/>
              </a:solidFill>
            </a:endParaRPr>
          </a:p>
        </p:txBody>
      </p:sp>
      <p:sp>
        <p:nvSpPr>
          <p:cNvPr id="101" name="Google Shape;101;p14"/>
          <p:cNvSpPr txBox="1"/>
          <p:nvPr>
            <p:ph idx="4294967295" type="body"/>
          </p:nvPr>
        </p:nvSpPr>
        <p:spPr>
          <a:xfrm>
            <a:off x="3044775" y="3878300"/>
            <a:ext cx="2654700" cy="1130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Tree interpretation</a:t>
            </a:r>
            <a:endParaRPr sz="1400"/>
          </a:p>
          <a:p>
            <a:pPr indent="-317500" lvl="0" marL="457200" rtl="0" algn="l">
              <a:spcBef>
                <a:spcPts val="0"/>
              </a:spcBef>
              <a:spcAft>
                <a:spcPts val="0"/>
              </a:spcAft>
              <a:buSzPts val="1400"/>
              <a:buChar char="●"/>
            </a:pPr>
            <a:r>
              <a:rPr lang="en" sz="1400"/>
              <a:t>Data type Comparison(binary vs ordinal vs numeric)</a:t>
            </a:r>
            <a:endParaRPr sz="1400"/>
          </a:p>
          <a:p>
            <a:pPr indent="-317500" lvl="0" marL="457200" rtl="0" algn="l">
              <a:spcBef>
                <a:spcPts val="0"/>
              </a:spcBef>
              <a:spcAft>
                <a:spcPts val="0"/>
              </a:spcAft>
              <a:buSzPts val="1400"/>
              <a:buChar char="●"/>
            </a:pPr>
            <a:r>
              <a:rPr lang="en" sz="1400"/>
              <a:t>Ethical Consideration</a:t>
            </a:r>
            <a:endParaRPr sz="1400"/>
          </a:p>
        </p:txBody>
      </p:sp>
      <p:sp>
        <p:nvSpPr>
          <p:cNvPr id="102" name="Google Shape;102;p14"/>
          <p:cNvSpPr/>
          <p:nvPr/>
        </p:nvSpPr>
        <p:spPr>
          <a:xfrm>
            <a:off x="5948502"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03" name="Google Shape;103;p14"/>
          <p:cNvSpPr txBox="1"/>
          <p:nvPr>
            <p:ph idx="4294967295" type="body"/>
          </p:nvPr>
        </p:nvSpPr>
        <p:spPr>
          <a:xfrm>
            <a:off x="6127083" y="1451576"/>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Methodology</a:t>
            </a:r>
            <a:endParaRPr b="1" sz="1600">
              <a:solidFill>
                <a:schemeClr val="lt1"/>
              </a:solidFill>
            </a:endParaRPr>
          </a:p>
        </p:txBody>
      </p:sp>
      <p:sp>
        <p:nvSpPr>
          <p:cNvPr id="104" name="Google Shape;104;p14"/>
          <p:cNvSpPr txBox="1"/>
          <p:nvPr>
            <p:ph idx="4294967295" type="body"/>
          </p:nvPr>
        </p:nvSpPr>
        <p:spPr>
          <a:xfrm>
            <a:off x="6186750" y="1939388"/>
            <a:ext cx="2654700" cy="1189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Data cleaning &amp; feature engineering</a:t>
            </a:r>
            <a:endParaRPr sz="1400"/>
          </a:p>
          <a:p>
            <a:pPr indent="-317500" lvl="0" marL="457200" rtl="0" algn="l">
              <a:spcBef>
                <a:spcPts val="0"/>
              </a:spcBef>
              <a:spcAft>
                <a:spcPts val="0"/>
              </a:spcAft>
              <a:buSzPts val="1400"/>
              <a:buChar char="●"/>
            </a:pPr>
            <a:r>
              <a:rPr lang="en" sz="1400"/>
              <a:t>Model Setup(tree, RF, boosting)</a:t>
            </a:r>
            <a:endParaRPr sz="1400"/>
          </a:p>
          <a:p>
            <a:pPr indent="0" lvl="0" marL="457200" rtl="0" algn="l">
              <a:spcBef>
                <a:spcPts val="800"/>
              </a:spcBef>
              <a:spcAft>
                <a:spcPts val="800"/>
              </a:spcAft>
              <a:buNone/>
            </a:pPr>
            <a:r>
              <a:t/>
            </a:r>
            <a:endParaRPr sz="1400"/>
          </a:p>
        </p:txBody>
      </p:sp>
      <p:sp>
        <p:nvSpPr>
          <p:cNvPr id="105" name="Google Shape;105;p14"/>
          <p:cNvSpPr/>
          <p:nvPr/>
        </p:nvSpPr>
        <p:spPr>
          <a:xfrm>
            <a:off x="432350" y="3312650"/>
            <a:ext cx="24693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06" name="Google Shape;106;p14"/>
          <p:cNvSpPr txBox="1"/>
          <p:nvPr>
            <p:ph idx="4294967295" type="body"/>
          </p:nvPr>
        </p:nvSpPr>
        <p:spPr>
          <a:xfrm>
            <a:off x="432356" y="3459351"/>
            <a:ext cx="20190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        Results</a:t>
            </a:r>
            <a:endParaRPr b="1" sz="1600">
              <a:solidFill>
                <a:schemeClr val="lt1"/>
              </a:solidFill>
            </a:endParaRPr>
          </a:p>
        </p:txBody>
      </p:sp>
      <p:sp>
        <p:nvSpPr>
          <p:cNvPr id="107" name="Google Shape;107;p14"/>
          <p:cNvSpPr txBox="1"/>
          <p:nvPr>
            <p:ph idx="4294967295" type="body"/>
          </p:nvPr>
        </p:nvSpPr>
        <p:spPr>
          <a:xfrm>
            <a:off x="432338" y="4037900"/>
            <a:ext cx="2654700" cy="81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Model Performance comparison</a:t>
            </a:r>
            <a:endParaRPr sz="1400"/>
          </a:p>
          <a:p>
            <a:pPr indent="-317500" lvl="0" marL="457200" rtl="0" algn="l">
              <a:spcBef>
                <a:spcPts val="0"/>
              </a:spcBef>
              <a:spcAft>
                <a:spcPts val="0"/>
              </a:spcAft>
              <a:buSzPts val="1400"/>
              <a:buChar char="●"/>
            </a:pPr>
            <a:r>
              <a:rPr lang="en" sz="1400"/>
              <a:t>Key predictors</a:t>
            </a:r>
            <a:endParaRPr sz="1400"/>
          </a:p>
        </p:txBody>
      </p:sp>
      <p:sp>
        <p:nvSpPr>
          <p:cNvPr id="108" name="Google Shape;108;p1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14"/>
          <p:cNvSpPr/>
          <p:nvPr/>
        </p:nvSpPr>
        <p:spPr>
          <a:xfrm>
            <a:off x="6071702" y="331262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10" name="Google Shape;110;p14"/>
          <p:cNvSpPr txBox="1"/>
          <p:nvPr>
            <p:ph idx="4294967295" type="body"/>
          </p:nvPr>
        </p:nvSpPr>
        <p:spPr>
          <a:xfrm>
            <a:off x="6262383" y="3459326"/>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Conclusion</a:t>
            </a:r>
            <a:endParaRPr b="1" sz="1600">
              <a:solidFill>
                <a:schemeClr val="lt1"/>
              </a:solidFill>
            </a:endParaRPr>
          </a:p>
        </p:txBody>
      </p:sp>
      <p:sp>
        <p:nvSpPr>
          <p:cNvPr id="111" name="Google Shape;111;p14"/>
          <p:cNvSpPr txBox="1"/>
          <p:nvPr>
            <p:ph idx="4294967295" type="body"/>
          </p:nvPr>
        </p:nvSpPr>
        <p:spPr>
          <a:xfrm>
            <a:off x="6063613" y="4065850"/>
            <a:ext cx="2654700" cy="81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Key findings</a:t>
            </a:r>
            <a:endParaRPr sz="1400"/>
          </a:p>
          <a:p>
            <a:pPr indent="-317500" lvl="0" marL="457200" rtl="0" algn="l">
              <a:spcBef>
                <a:spcPts val="0"/>
              </a:spcBef>
              <a:spcAft>
                <a:spcPts val="0"/>
              </a:spcAft>
              <a:buSzPts val="1400"/>
              <a:buChar char="●"/>
            </a:pPr>
            <a:r>
              <a:rPr lang="en" sz="1400"/>
              <a:t>Limitations and future work</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Question(s)</a:t>
            </a:r>
            <a:endParaRPr/>
          </a:p>
        </p:txBody>
      </p:sp>
      <p:sp>
        <p:nvSpPr>
          <p:cNvPr id="117" name="Google Shape;117;p15"/>
          <p:cNvSpPr txBox="1"/>
          <p:nvPr/>
        </p:nvSpPr>
        <p:spPr>
          <a:xfrm>
            <a:off x="311700" y="1215175"/>
            <a:ext cx="8234700" cy="3750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highlight>
                  <a:srgbClr val="FFFFFF"/>
                </a:highlight>
              </a:rPr>
              <a:t>The Research questions are:</a:t>
            </a:r>
            <a:endParaRPr sz="1800">
              <a:highlight>
                <a:srgbClr val="FFFFFF"/>
              </a:highlight>
            </a:endParaRPr>
          </a:p>
          <a:p>
            <a:pPr indent="-342900" lvl="0" marL="457200" rtl="0" algn="l">
              <a:lnSpc>
                <a:spcPct val="150000"/>
              </a:lnSpc>
              <a:spcBef>
                <a:spcPts val="0"/>
              </a:spcBef>
              <a:spcAft>
                <a:spcPts val="0"/>
              </a:spcAft>
              <a:buSzPts val="1800"/>
              <a:buChar char="-"/>
            </a:pPr>
            <a:r>
              <a:rPr lang="en" sz="1800">
                <a:highlight>
                  <a:srgbClr val="FFFFFF"/>
                </a:highlight>
              </a:rPr>
              <a:t>Whether a youth has ever used any drug(binary classification- Used/Never Used).</a:t>
            </a:r>
            <a:endParaRPr sz="1800">
              <a:highlight>
                <a:srgbClr val="FFFFFF"/>
              </a:highlight>
            </a:endParaRPr>
          </a:p>
          <a:p>
            <a:pPr indent="-342900" lvl="0" marL="457200" rtl="0" algn="l">
              <a:lnSpc>
                <a:spcPct val="150000"/>
              </a:lnSpc>
              <a:spcBef>
                <a:spcPts val="0"/>
              </a:spcBef>
              <a:spcAft>
                <a:spcPts val="0"/>
              </a:spcAft>
              <a:buSzPts val="1800"/>
              <a:buChar char="-"/>
            </a:pPr>
            <a:r>
              <a:rPr lang="en" sz="1800">
                <a:highlight>
                  <a:srgbClr val="FFFFFF"/>
                </a:highlight>
              </a:rPr>
              <a:t>The frequency of marijuana use in the past year (multi-class classification).</a:t>
            </a:r>
            <a:endParaRPr sz="1800">
              <a:highlight>
                <a:srgbClr val="FFFFFF"/>
              </a:highlight>
            </a:endParaRPr>
          </a:p>
          <a:p>
            <a:pPr indent="-342900" lvl="0" marL="457200" rtl="0" algn="l">
              <a:lnSpc>
                <a:spcPct val="150000"/>
              </a:lnSpc>
              <a:spcBef>
                <a:spcPts val="0"/>
              </a:spcBef>
              <a:spcAft>
                <a:spcPts val="0"/>
              </a:spcAft>
              <a:buSzPts val="1800"/>
              <a:buChar char="-"/>
            </a:pPr>
            <a:r>
              <a:rPr lang="en" sz="1800">
                <a:highlight>
                  <a:srgbClr val="FFFFFF"/>
                </a:highlight>
              </a:rPr>
              <a:t>The number of days per year a youth has used marijuana(regression) ?</a:t>
            </a:r>
            <a:endParaRPr sz="1800">
              <a:highlight>
                <a:srgbClr val="FFFFFF"/>
              </a:highlight>
            </a:endParaRPr>
          </a:p>
          <a:p>
            <a:pPr indent="0" lvl="0" marL="0" rtl="0" algn="l">
              <a:lnSpc>
                <a:spcPct val="150000"/>
              </a:lnSpc>
              <a:spcBef>
                <a:spcPts val="0"/>
              </a:spcBef>
              <a:spcAft>
                <a:spcPts val="0"/>
              </a:spcAft>
              <a:buNone/>
            </a:pPr>
            <a:r>
              <a:rPr lang="en" sz="1800">
                <a:highlight>
                  <a:schemeClr val="lt1"/>
                </a:highlight>
              </a:rPr>
              <a:t>The tree and ensemble approaches that will be used:</a:t>
            </a:r>
            <a:endParaRPr sz="1800">
              <a:highlight>
                <a:schemeClr val="lt1"/>
              </a:highlight>
            </a:endParaRPr>
          </a:p>
          <a:p>
            <a:pPr indent="-342900" lvl="0" marL="457200" rtl="0" algn="l">
              <a:lnSpc>
                <a:spcPct val="150000"/>
              </a:lnSpc>
              <a:spcBef>
                <a:spcPts val="0"/>
              </a:spcBef>
              <a:spcAft>
                <a:spcPts val="0"/>
              </a:spcAft>
              <a:buSzPts val="1800"/>
              <a:buChar char="-"/>
            </a:pPr>
            <a:r>
              <a:rPr lang="en" sz="1800">
                <a:highlight>
                  <a:schemeClr val="lt1"/>
                </a:highlight>
              </a:rPr>
              <a:t>Decision Tree Approach</a:t>
            </a:r>
            <a:endParaRPr sz="1800">
              <a:highlight>
                <a:schemeClr val="lt1"/>
              </a:highlight>
            </a:endParaRPr>
          </a:p>
          <a:p>
            <a:pPr indent="-342900" lvl="0" marL="457200" rtl="0" algn="l">
              <a:lnSpc>
                <a:spcPct val="150000"/>
              </a:lnSpc>
              <a:spcBef>
                <a:spcPts val="0"/>
              </a:spcBef>
              <a:spcAft>
                <a:spcPts val="0"/>
              </a:spcAft>
              <a:buSzPts val="1800"/>
              <a:buChar char="-"/>
            </a:pPr>
            <a:r>
              <a:rPr lang="en" sz="1800">
                <a:highlight>
                  <a:schemeClr val="lt1"/>
                </a:highlight>
              </a:rPr>
              <a:t>Ensemble approach(Bagging, Boosting, Rain Forest)</a:t>
            </a:r>
            <a:endParaRPr sz="1800">
              <a:highlight>
                <a:schemeClr val="lt1"/>
              </a:highlight>
            </a:endParaRPr>
          </a:p>
          <a:p>
            <a:pPr indent="0" lvl="0" marL="0" rtl="0" algn="l">
              <a:lnSpc>
                <a:spcPct val="150000"/>
              </a:lnSpc>
              <a:spcBef>
                <a:spcPts val="0"/>
              </a:spcBef>
              <a:spcAft>
                <a:spcPts val="0"/>
              </a:spcAft>
              <a:buNone/>
            </a:pPr>
            <a:r>
              <a:t/>
            </a:r>
            <a:endParaRPr sz="1800">
              <a:highlight>
                <a:srgbClr val="FFFFFF"/>
              </a:highlight>
            </a:endParaRPr>
          </a:p>
          <a:p>
            <a:pPr indent="0" lvl="0" marL="914400" rtl="0" algn="l">
              <a:lnSpc>
                <a:spcPct val="115000"/>
              </a:lnSpc>
              <a:spcBef>
                <a:spcPts val="1000"/>
              </a:spcBef>
              <a:spcAft>
                <a:spcPts val="0"/>
              </a:spcAft>
              <a:buNone/>
            </a:pPr>
            <a:r>
              <a:t/>
            </a:r>
            <a:endParaRPr sz="1100">
              <a:solidFill>
                <a:srgbClr val="1F1F1F"/>
              </a:solidFill>
              <a:highlight>
                <a:srgbClr val="FFFFFF"/>
              </a:highlight>
            </a:endParaRPr>
          </a:p>
          <a:p>
            <a:pPr indent="0" lvl="0" marL="0" rtl="0" algn="l">
              <a:lnSpc>
                <a:spcPct val="150000"/>
              </a:lnSpc>
              <a:spcBef>
                <a:spcPts val="1000"/>
              </a:spcBef>
              <a:spcAft>
                <a:spcPts val="0"/>
              </a:spcAft>
              <a:buNone/>
            </a:pPr>
            <a:r>
              <a:t/>
            </a:r>
            <a:endParaRPr sz="1100">
              <a:solidFill>
                <a:srgbClr val="1F1F1F"/>
              </a:solidFill>
              <a:highlight>
                <a:srgbClr val="FFFFFF"/>
              </a:highlight>
            </a:endParaRPr>
          </a:p>
          <a:p>
            <a:pPr indent="0" lvl="0" marL="914400" rtl="0" algn="l">
              <a:lnSpc>
                <a:spcPct val="115000"/>
              </a:lnSpc>
              <a:spcBef>
                <a:spcPts val="1000"/>
              </a:spcBef>
              <a:spcAft>
                <a:spcPts val="0"/>
              </a:spcAft>
              <a:buNone/>
            </a:pPr>
            <a:r>
              <a:t/>
            </a:r>
            <a:endParaRPr sz="1100">
              <a:solidFill>
                <a:srgbClr val="1F1F1F"/>
              </a:solidFill>
              <a:highlight>
                <a:srgbClr val="FFFFFF"/>
              </a:highlight>
            </a:endParaRPr>
          </a:p>
          <a:p>
            <a:pPr indent="0" lvl="0" marL="0" rtl="0" algn="l">
              <a:lnSpc>
                <a:spcPct val="150000"/>
              </a:lnSpc>
              <a:spcBef>
                <a:spcPts val="600"/>
              </a:spcBef>
              <a:spcAft>
                <a:spcPts val="0"/>
              </a:spcAft>
              <a:buNone/>
            </a:pPr>
            <a:r>
              <a:t/>
            </a:r>
            <a:endParaRPr i="1" sz="1500">
              <a:highlight>
                <a:srgbClr val="FFFFFF"/>
              </a:highlight>
            </a:endParaRPr>
          </a:p>
          <a:p>
            <a:pPr indent="0" lvl="0" marL="914400" rtl="0" algn="l">
              <a:lnSpc>
                <a:spcPct val="115000"/>
              </a:lnSpc>
              <a:spcBef>
                <a:spcPts val="0"/>
              </a:spcBef>
              <a:spcAft>
                <a:spcPts val="0"/>
              </a:spcAft>
              <a:buNone/>
            </a:pPr>
            <a:r>
              <a:t/>
            </a:r>
            <a:endParaRPr i="1" sz="1500">
              <a:highlight>
                <a:srgbClr val="FFFFFF"/>
              </a:highlight>
            </a:endParaRPr>
          </a:p>
          <a:p>
            <a:pPr indent="0" lvl="0" marL="457200" rtl="0" algn="l">
              <a:lnSpc>
                <a:spcPct val="115000"/>
              </a:lnSpc>
              <a:spcBef>
                <a:spcPts val="0"/>
              </a:spcBef>
              <a:spcAft>
                <a:spcPts val="0"/>
              </a:spcAft>
              <a:buNone/>
            </a:pPr>
            <a:r>
              <a:t/>
            </a:r>
            <a:endParaRPr sz="1300">
              <a:highlight>
                <a:srgbClr val="FFFFFF"/>
              </a:highlight>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sp>
        <p:nvSpPr>
          <p:cNvPr id="118" name="Google Shape;118;p15"/>
          <p:cNvSpPr txBox="1"/>
          <p:nvPr/>
        </p:nvSpPr>
        <p:spPr>
          <a:xfrm>
            <a:off x="4656825" y="110775"/>
            <a:ext cx="37785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accent2"/>
              </a:solidFill>
              <a:latin typeface="Roboto"/>
              <a:ea typeface="Roboto"/>
              <a:cs typeface="Roboto"/>
              <a:sym typeface="Roboto"/>
            </a:endParaRPr>
          </a:p>
        </p:txBody>
      </p:sp>
      <p:sp>
        <p:nvSpPr>
          <p:cNvPr id="119" name="Google Shape;119;p1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Theoretical</a:t>
            </a:r>
            <a:r>
              <a:rPr lang="en"/>
              <a:t> Background &amp; Methodology</a:t>
            </a:r>
            <a:endParaRPr/>
          </a:p>
        </p:txBody>
      </p:sp>
      <p:sp>
        <p:nvSpPr>
          <p:cNvPr id="125" name="Google Shape;125;p16"/>
          <p:cNvSpPr txBox="1"/>
          <p:nvPr/>
        </p:nvSpPr>
        <p:spPr>
          <a:xfrm>
            <a:off x="311700" y="1282550"/>
            <a:ext cx="82851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Decision Tree Ensemble Methods</a:t>
            </a:r>
            <a:endParaRPr b="1" sz="1800">
              <a:highlight>
                <a:srgbClr val="FFFFFF"/>
              </a:highlight>
            </a:endParaRPr>
          </a:p>
          <a:p>
            <a:pPr indent="0" lvl="0" marL="0" rtl="0" algn="l">
              <a:lnSpc>
                <a:spcPct val="115000"/>
              </a:lnSpc>
              <a:spcBef>
                <a:spcPts val="0"/>
              </a:spcBef>
              <a:spcAft>
                <a:spcPts val="0"/>
              </a:spcAft>
              <a:buNone/>
            </a:pPr>
            <a:r>
              <a:t/>
            </a:r>
            <a:endParaRPr b="1" sz="1800">
              <a:highlight>
                <a:srgbClr val="FFFFFF"/>
              </a:highlight>
            </a:endParaRPr>
          </a:p>
          <a:p>
            <a:pPr indent="-323850" lvl="0" marL="457200" rtl="0" algn="l">
              <a:lnSpc>
                <a:spcPct val="150000"/>
              </a:lnSpc>
              <a:spcBef>
                <a:spcPts val="0"/>
              </a:spcBef>
              <a:spcAft>
                <a:spcPts val="0"/>
              </a:spcAft>
              <a:buSzPts val="1500"/>
              <a:buChar char="●"/>
            </a:pPr>
            <a:r>
              <a:rPr lang="en" sz="1500">
                <a:highlight>
                  <a:srgbClr val="FFFFFF"/>
                </a:highlight>
              </a:rPr>
              <a:t>Supervised machine learning model.</a:t>
            </a:r>
            <a:endParaRPr sz="1500">
              <a:highlight>
                <a:srgbClr val="FFFFFF"/>
              </a:highlight>
            </a:endParaRPr>
          </a:p>
          <a:p>
            <a:pPr indent="-323850" lvl="0" marL="457200" rtl="0" algn="l">
              <a:lnSpc>
                <a:spcPct val="150000"/>
              </a:lnSpc>
              <a:spcBef>
                <a:spcPts val="0"/>
              </a:spcBef>
              <a:spcAft>
                <a:spcPts val="0"/>
              </a:spcAft>
              <a:buSzPts val="1500"/>
              <a:buChar char="●"/>
            </a:pPr>
            <a:r>
              <a:rPr lang="en" sz="1500">
                <a:highlight>
                  <a:srgbClr val="FFFFFF"/>
                </a:highlight>
              </a:rPr>
              <a:t>Predictions are made by splitting dataset into smaller groups based on rules.</a:t>
            </a:r>
            <a:endParaRPr sz="1500">
              <a:highlight>
                <a:srgbClr val="FFFFFF"/>
              </a:highlight>
            </a:endParaRPr>
          </a:p>
          <a:p>
            <a:pPr indent="0" lvl="0" marL="0" rtl="0" algn="l">
              <a:lnSpc>
                <a:spcPct val="150000"/>
              </a:lnSpc>
              <a:spcBef>
                <a:spcPts val="0"/>
              </a:spcBef>
              <a:spcAft>
                <a:spcPts val="0"/>
              </a:spcAft>
              <a:buNone/>
            </a:pPr>
            <a:r>
              <a:rPr lang="en" sz="1500">
                <a:highlight>
                  <a:srgbClr val="FFFFFF"/>
                </a:highlight>
              </a:rPr>
              <a:t>To implement:</a:t>
            </a:r>
            <a:endParaRPr sz="1500">
              <a:highlight>
                <a:srgbClr val="FFFFFF"/>
              </a:highlight>
            </a:endParaRPr>
          </a:p>
          <a:p>
            <a:pPr indent="-323850" lvl="0" marL="457200" rtl="0" algn="l">
              <a:lnSpc>
                <a:spcPct val="150000"/>
              </a:lnSpc>
              <a:spcBef>
                <a:spcPts val="0"/>
              </a:spcBef>
              <a:spcAft>
                <a:spcPts val="0"/>
              </a:spcAft>
              <a:buSzPts val="1500"/>
              <a:buChar char="●"/>
            </a:pPr>
            <a:r>
              <a:rPr lang="en" sz="1500">
                <a:highlight>
                  <a:srgbClr val="FFFFFF"/>
                </a:highlight>
              </a:rPr>
              <a:t>Can use tree() function or rpart() function in R. </a:t>
            </a:r>
            <a:endParaRPr sz="1500">
              <a:highlight>
                <a:srgbClr val="FFFFFF"/>
              </a:highlight>
            </a:endParaRPr>
          </a:p>
          <a:p>
            <a:pPr indent="-323850" lvl="0" marL="457200" rtl="0" algn="l">
              <a:lnSpc>
                <a:spcPct val="150000"/>
              </a:lnSpc>
              <a:spcBef>
                <a:spcPts val="0"/>
              </a:spcBef>
              <a:spcAft>
                <a:spcPts val="0"/>
              </a:spcAft>
              <a:buSzPts val="1500"/>
              <a:buChar char="●"/>
            </a:pPr>
            <a:r>
              <a:rPr lang="en" sz="1500">
                <a:highlight>
                  <a:srgbClr val="FFFFFF"/>
                </a:highlight>
              </a:rPr>
              <a:t>rpart() allows for more control over depth, pruning and complexity of tree(focus on tree() for this project. </a:t>
            </a:r>
            <a:endParaRPr sz="1500">
              <a:highlight>
                <a:srgbClr val="FFFFFF"/>
              </a:highlight>
            </a:endParaRPr>
          </a:p>
          <a:p>
            <a:pPr indent="-323850" lvl="0" marL="457200" rtl="0" algn="l">
              <a:lnSpc>
                <a:spcPct val="150000"/>
              </a:lnSpc>
              <a:spcBef>
                <a:spcPts val="0"/>
              </a:spcBef>
              <a:spcAft>
                <a:spcPts val="0"/>
              </a:spcAft>
              <a:buSzPts val="1500"/>
              <a:buChar char="●"/>
            </a:pPr>
            <a:r>
              <a:rPr lang="en" sz="1500">
                <a:highlight>
                  <a:srgbClr val="FFFFFF"/>
                </a:highlight>
              </a:rPr>
              <a:t>Split data into training and test, fit tree using training data, prune tree if too complex, use pruned tree for prediction on test set. </a:t>
            </a:r>
            <a:endParaRPr sz="1500">
              <a:highlight>
                <a:srgbClr val="FFFFFF"/>
              </a:highlight>
            </a:endParaRPr>
          </a:p>
          <a:p>
            <a:pPr indent="-323850" lvl="0" marL="457200" rtl="0" algn="l">
              <a:lnSpc>
                <a:spcPct val="150000"/>
              </a:lnSpc>
              <a:spcBef>
                <a:spcPts val="0"/>
              </a:spcBef>
              <a:spcAft>
                <a:spcPts val="0"/>
              </a:spcAft>
              <a:buSzPts val="1500"/>
              <a:buChar char="●"/>
            </a:pPr>
            <a:r>
              <a:rPr lang="en" sz="1500">
                <a:highlight>
                  <a:srgbClr val="FFFFFF"/>
                </a:highlight>
              </a:rPr>
              <a:t>Evaluated with precision, recall, accuracy score, error rate, f1-score</a:t>
            </a:r>
            <a:endParaRPr sz="15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26" name="Google Shape;126;p1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Theoretical Background &amp; Methodology</a:t>
            </a:r>
            <a:endParaRPr/>
          </a:p>
        </p:txBody>
      </p:sp>
      <p:sp>
        <p:nvSpPr>
          <p:cNvPr id="132" name="Google Shape;132;p17"/>
          <p:cNvSpPr txBox="1"/>
          <p:nvPr/>
        </p:nvSpPr>
        <p:spPr>
          <a:xfrm>
            <a:off x="311700" y="1282550"/>
            <a:ext cx="8285100" cy="386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Ensemble Approaches - Bagging</a:t>
            </a:r>
            <a:endParaRPr b="1" sz="1800">
              <a:highlight>
                <a:srgbClr val="FFFFFF"/>
              </a:highlight>
            </a:endParaRPr>
          </a:p>
          <a:p>
            <a:pPr indent="-323850" lvl="0" marL="457200" rtl="0" algn="l">
              <a:lnSpc>
                <a:spcPct val="150000"/>
              </a:lnSpc>
              <a:spcBef>
                <a:spcPts val="0"/>
              </a:spcBef>
              <a:spcAft>
                <a:spcPts val="0"/>
              </a:spcAft>
              <a:buSzPts val="1500"/>
              <a:buChar char="●"/>
            </a:pPr>
            <a:r>
              <a:rPr lang="en" sz="1500">
                <a:highlight>
                  <a:schemeClr val="lt1"/>
                </a:highlight>
              </a:rPr>
              <a:t>Bagging, also known as Bootstrap Aggregation.</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An ensemble method which involves training multiple models independently on random subsets of data, and aggregating their prediction through voting(for classification) or averaging(for aggregation).</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Bagging can be done using randomForest() function in R.</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Differs from random forest as mtry is set to p  so that it can consider all predictors at each split.</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rgbClr val="FFFFFF"/>
                </a:highlight>
              </a:rPr>
              <a:t>Predictions are made by splitting dataset into smaller groups based on rules.</a:t>
            </a:r>
            <a:endParaRPr sz="1500">
              <a:highlight>
                <a:srgbClr val="FFFFFF"/>
              </a:highlight>
            </a:endParaRPr>
          </a:p>
          <a:p>
            <a:pPr indent="0" lvl="0" marL="457200" rtl="0" algn="l">
              <a:lnSpc>
                <a:spcPct val="150000"/>
              </a:lnSpc>
              <a:spcBef>
                <a:spcPts val="0"/>
              </a:spcBef>
              <a:spcAft>
                <a:spcPts val="0"/>
              </a:spcAft>
              <a:buNone/>
            </a:pPr>
            <a:r>
              <a:t/>
            </a:r>
            <a:endParaRPr sz="15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33" name="Google Shape;133;p1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Theoretical Background &amp; Methodology</a:t>
            </a:r>
            <a:endParaRPr/>
          </a:p>
        </p:txBody>
      </p:sp>
      <p:sp>
        <p:nvSpPr>
          <p:cNvPr id="139" name="Google Shape;139;p18"/>
          <p:cNvSpPr txBox="1"/>
          <p:nvPr/>
        </p:nvSpPr>
        <p:spPr>
          <a:xfrm>
            <a:off x="311700" y="1282550"/>
            <a:ext cx="8285100" cy="386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Ensemble Approaches - random forest</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An ensemble method which uses many trees to make better predictions.</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Each tree looks at different random parts of data and their results are combined by voting of classification or averaging for regression. </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It can be done using randomForest() function in R.</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For classification problem, mtry is equal sqrt(p) where p is total predictors.</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For regression problem mtry is equal to p/2.</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rgbClr val="FFFFFF"/>
                </a:highlight>
              </a:rPr>
              <a:t>Predictions are made by splitting dataset into smaller groups based on rules.</a:t>
            </a:r>
            <a:endParaRPr sz="1500">
              <a:highlight>
                <a:srgbClr val="FFFFFF"/>
              </a:highlight>
            </a:endParaRPr>
          </a:p>
          <a:p>
            <a:pPr indent="0" lvl="0" marL="457200" rtl="0" algn="l">
              <a:lnSpc>
                <a:spcPct val="150000"/>
              </a:lnSpc>
              <a:spcBef>
                <a:spcPts val="0"/>
              </a:spcBef>
              <a:spcAft>
                <a:spcPts val="0"/>
              </a:spcAft>
              <a:buNone/>
            </a:pPr>
            <a:r>
              <a:t/>
            </a:r>
            <a:endParaRPr sz="15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40" name="Google Shape;140;p1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Theoretical Background &amp; Methodology</a:t>
            </a:r>
            <a:endParaRPr/>
          </a:p>
        </p:txBody>
      </p:sp>
      <p:sp>
        <p:nvSpPr>
          <p:cNvPr id="146" name="Google Shape;146;p19"/>
          <p:cNvSpPr txBox="1"/>
          <p:nvPr/>
        </p:nvSpPr>
        <p:spPr>
          <a:xfrm>
            <a:off x="311700" y="1282550"/>
            <a:ext cx="8285100" cy="386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Ensemble Approaches - Boosting</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An ensemble method which uses many trees to make better predictions.</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It works iteratively where each new model focuses on correcting the mistakes of its predecessors and gradually improve performance. </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It can be done using gbm() function in R.</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Find the the optimal shrinkage value that minimizes the error </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Set distribution = “guassian” for regression, distribution = bernouilli for classification.</a:t>
            </a:r>
            <a:endParaRPr sz="1500">
              <a:highlight>
                <a:schemeClr val="lt1"/>
              </a:highlight>
            </a:endParaRPr>
          </a:p>
          <a:p>
            <a:pPr indent="-323850" lvl="0" marL="457200" rtl="0" algn="l">
              <a:lnSpc>
                <a:spcPct val="150000"/>
              </a:lnSpc>
              <a:spcBef>
                <a:spcPts val="0"/>
              </a:spcBef>
              <a:spcAft>
                <a:spcPts val="0"/>
              </a:spcAft>
              <a:buSzPts val="1500"/>
              <a:buChar char="●"/>
            </a:pPr>
            <a:r>
              <a:rPr lang="en" sz="1500">
                <a:highlight>
                  <a:schemeClr val="lt1"/>
                </a:highlight>
              </a:rPr>
              <a:t>Set n.trees, interaction.depth, set shrinkage to the </a:t>
            </a:r>
            <a:r>
              <a:rPr lang="en" sz="1500">
                <a:highlight>
                  <a:schemeClr val="lt1"/>
                </a:highlight>
              </a:rPr>
              <a:t>chosen</a:t>
            </a:r>
            <a:r>
              <a:rPr lang="en" sz="1500">
                <a:highlight>
                  <a:schemeClr val="lt1"/>
                </a:highlight>
              </a:rPr>
              <a:t> value</a:t>
            </a:r>
            <a:endParaRPr sz="1500">
              <a:highlight>
                <a:schemeClr val="lt1"/>
              </a:highlight>
            </a:endParaRPr>
          </a:p>
          <a:p>
            <a:pPr indent="0" lvl="0" marL="457200" rtl="0" algn="l">
              <a:lnSpc>
                <a:spcPct val="150000"/>
              </a:lnSpc>
              <a:spcBef>
                <a:spcPts val="0"/>
              </a:spcBef>
              <a:spcAft>
                <a:spcPts val="0"/>
              </a:spcAft>
              <a:buNone/>
            </a:pPr>
            <a:r>
              <a:t/>
            </a:r>
            <a:endParaRPr sz="1500">
              <a:highlight>
                <a:srgbClr val="FFFFFF"/>
              </a:highlight>
            </a:endParaRPr>
          </a:p>
          <a:p>
            <a:pPr indent="0" lvl="0" marL="457200" rtl="0" algn="l">
              <a:lnSpc>
                <a:spcPct val="150000"/>
              </a:lnSpc>
              <a:spcBef>
                <a:spcPts val="0"/>
              </a:spcBef>
              <a:spcAft>
                <a:spcPts val="0"/>
              </a:spcAft>
              <a:buNone/>
            </a:pPr>
            <a:r>
              <a:t/>
            </a:r>
            <a:endParaRPr sz="15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47" name="Google Shape;147;p1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a:t>
            </a:r>
            <a:endParaRPr/>
          </a:p>
        </p:txBody>
      </p:sp>
      <p:sp>
        <p:nvSpPr>
          <p:cNvPr id="153" name="Google Shape;153;p20"/>
          <p:cNvSpPr txBox="1"/>
          <p:nvPr/>
        </p:nvSpPr>
        <p:spPr>
          <a:xfrm>
            <a:off x="311700" y="1272500"/>
            <a:ext cx="8466300" cy="369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Data Preparation</a:t>
            </a:r>
            <a:endParaRPr b="1" sz="18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Data was cleaned by handling missing value and recoding special survey codes (e.g. 991, 993) as NA.</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Categorical and numerical variable were transformed to meaningful, interpretable formats</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Predictors of interest were selected :</a:t>
            </a:r>
            <a:endParaRPr sz="1600">
              <a:highlight>
                <a:srgbClr val="FFFFFF"/>
              </a:highlight>
            </a:endParaRPr>
          </a:p>
          <a:p>
            <a:pPr indent="-330200" lvl="1" marL="914400" rtl="0" algn="l">
              <a:lnSpc>
                <a:spcPct val="150000"/>
              </a:lnSpc>
              <a:spcBef>
                <a:spcPts val="0"/>
              </a:spcBef>
              <a:spcAft>
                <a:spcPts val="0"/>
              </a:spcAft>
              <a:buSzPts val="1600"/>
              <a:buChar char="○"/>
            </a:pPr>
            <a:r>
              <a:rPr lang="en" sz="1600">
                <a:highlight>
                  <a:srgbClr val="FFFFFF"/>
                </a:highlight>
              </a:rPr>
              <a:t>Demographics</a:t>
            </a:r>
            <a:endParaRPr sz="1600">
              <a:highlight>
                <a:srgbClr val="FFFFFF"/>
              </a:highlight>
            </a:endParaRPr>
          </a:p>
          <a:p>
            <a:pPr indent="-330200" lvl="1" marL="914400" rtl="0" algn="l">
              <a:lnSpc>
                <a:spcPct val="150000"/>
              </a:lnSpc>
              <a:spcBef>
                <a:spcPts val="0"/>
              </a:spcBef>
              <a:spcAft>
                <a:spcPts val="0"/>
              </a:spcAft>
              <a:buSzPts val="1600"/>
              <a:buChar char="○"/>
            </a:pPr>
            <a:r>
              <a:rPr lang="en" sz="1600">
                <a:highlight>
                  <a:srgbClr val="FFFFFF"/>
                </a:highlight>
              </a:rPr>
              <a:t>Parental Influence</a:t>
            </a:r>
            <a:endParaRPr sz="1600">
              <a:highlight>
                <a:srgbClr val="FFFFFF"/>
              </a:highlight>
            </a:endParaRPr>
          </a:p>
          <a:p>
            <a:pPr indent="-330200" lvl="1" marL="914400" rtl="0" algn="l">
              <a:lnSpc>
                <a:spcPct val="150000"/>
              </a:lnSpc>
              <a:spcBef>
                <a:spcPts val="0"/>
              </a:spcBef>
              <a:spcAft>
                <a:spcPts val="0"/>
              </a:spcAft>
              <a:buSzPts val="1600"/>
              <a:buChar char="○"/>
            </a:pPr>
            <a:r>
              <a:rPr lang="en" sz="1600">
                <a:highlight>
                  <a:srgbClr val="FFFFFF"/>
                </a:highlight>
              </a:rPr>
              <a:t>Religiousity</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Variables were renamed for clarity and easier interpretation</a:t>
            </a:r>
            <a:endParaRPr sz="16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54" name="Google Shape;154;p2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a:t>
            </a:r>
            <a:endParaRPr/>
          </a:p>
        </p:txBody>
      </p:sp>
      <p:sp>
        <p:nvSpPr>
          <p:cNvPr id="160" name="Google Shape;160;p21"/>
          <p:cNvSpPr txBox="1"/>
          <p:nvPr/>
        </p:nvSpPr>
        <p:spPr>
          <a:xfrm>
            <a:off x="311700" y="1272500"/>
            <a:ext cx="8466300" cy="369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Model Implementation</a:t>
            </a:r>
            <a:endParaRPr b="1" sz="18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To answer the binary classification question:</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Whether a youth has ever used any drug (binary classification - Used/Never Used) ?</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Drug use is defined as whether a respondent has used marijuana, alcohol, or tobacco. A new binary variable was created to indicate whether at least one of these substances was used or if no use was reported.</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Models used include:</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Decision trees </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Random Forest (with mtry = sqrt(p))</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61" name="Google Shape;161;p2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a:t>
            </a:r>
            <a:endParaRPr/>
          </a:p>
        </p:txBody>
      </p:sp>
      <p:sp>
        <p:nvSpPr>
          <p:cNvPr id="167" name="Google Shape;167;p22"/>
          <p:cNvSpPr txBox="1"/>
          <p:nvPr/>
        </p:nvSpPr>
        <p:spPr>
          <a:xfrm>
            <a:off x="311700" y="1272500"/>
            <a:ext cx="8466300" cy="369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Model Implementation</a:t>
            </a:r>
            <a:endParaRPr b="1" sz="18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To answer the multi-class classification question:</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The frequency of marijuana use in the past month ?</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Models used include:</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Random Forest (with mtry = sqrt(p))</a:t>
            </a:r>
            <a:endParaRPr sz="1600">
              <a:highlight>
                <a:srgbClr val="FFFFFF"/>
              </a:highlight>
            </a:endParaRPr>
          </a:p>
          <a:p>
            <a:pPr indent="0" lvl="0" marL="45720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68" name="Google Shape;168;p2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txBox="1"/>
          <p:nvPr>
            <p:ph type="title"/>
          </p:nvPr>
        </p:nvSpPr>
        <p:spPr>
          <a:xfrm>
            <a:off x="311700" y="4279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 </a:t>
            </a:r>
            <a:endParaRPr/>
          </a:p>
        </p:txBody>
      </p:sp>
      <p:sp>
        <p:nvSpPr>
          <p:cNvPr id="174" name="Google Shape;174;p23"/>
          <p:cNvSpPr txBox="1"/>
          <p:nvPr/>
        </p:nvSpPr>
        <p:spPr>
          <a:xfrm>
            <a:off x="311700" y="1272500"/>
            <a:ext cx="8466300" cy="369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Model Implementation</a:t>
            </a:r>
            <a:endParaRPr b="1" sz="18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To answer the binary classification question:</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The number of days per year a youth has used marijuana (regression)?</a:t>
            </a:r>
            <a:endParaRPr sz="1600">
              <a:highlight>
                <a:srgbClr val="FFFFFF"/>
              </a:highlight>
            </a:endParaRPr>
          </a:p>
          <a:p>
            <a:pPr indent="0" lvl="0" marL="0" rtl="0" algn="l">
              <a:lnSpc>
                <a:spcPct val="150000"/>
              </a:lnSpc>
              <a:spcBef>
                <a:spcPts val="0"/>
              </a:spcBef>
              <a:spcAft>
                <a:spcPts val="0"/>
              </a:spcAft>
              <a:buNone/>
            </a:pPr>
            <a:r>
              <a:rPr lang="en" sz="1600">
                <a:highlight>
                  <a:srgbClr val="FFFFFF"/>
                </a:highlight>
              </a:rPr>
              <a:t>Models used include:</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Boosting </a:t>
            </a:r>
            <a:endParaRPr sz="1600">
              <a:highlight>
                <a:srgbClr val="FFFFFF"/>
              </a:highlight>
            </a:endParaRPr>
          </a:p>
          <a:p>
            <a:pPr indent="-330200" lvl="0" marL="457200" rtl="0" algn="l">
              <a:lnSpc>
                <a:spcPct val="150000"/>
              </a:lnSpc>
              <a:spcBef>
                <a:spcPts val="0"/>
              </a:spcBef>
              <a:spcAft>
                <a:spcPts val="0"/>
              </a:spcAft>
              <a:buSzPts val="1600"/>
              <a:buChar char="-"/>
            </a:pPr>
            <a:r>
              <a:rPr lang="en" sz="1600">
                <a:highlight>
                  <a:srgbClr val="FFFFFF"/>
                </a:highlight>
              </a:rPr>
              <a:t>Random Forest (with mtry = p/3)</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0" rtl="0" algn="l">
              <a:lnSpc>
                <a:spcPct val="150000"/>
              </a:lnSpc>
              <a:spcBef>
                <a:spcPts val="0"/>
              </a:spcBef>
              <a:spcAft>
                <a:spcPts val="0"/>
              </a:spcAft>
              <a:buNone/>
            </a:pPr>
            <a:r>
              <a:t/>
            </a:r>
            <a:endParaRPr sz="16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75" name="Google Shape;175;p2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181" name="Google Shape;181;p24"/>
          <p:cNvSpPr txBox="1"/>
          <p:nvPr/>
        </p:nvSpPr>
        <p:spPr>
          <a:xfrm>
            <a:off x="472825" y="733675"/>
            <a:ext cx="84462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Binary Classification Problem - Decision tree</a:t>
            </a:r>
            <a:endParaRPr b="1" sz="1800">
              <a:highlight>
                <a:srgbClr val="FFFFFF"/>
              </a:highlight>
            </a:endParaRPr>
          </a:p>
          <a:p>
            <a:pPr indent="0" lvl="0" marL="0" rtl="0" algn="l">
              <a:lnSpc>
                <a:spcPct val="115000"/>
              </a:lnSpc>
              <a:spcBef>
                <a:spcPts val="0"/>
              </a:spcBef>
              <a:spcAft>
                <a:spcPts val="0"/>
              </a:spcAft>
              <a:buNone/>
            </a:pPr>
            <a:r>
              <a:t/>
            </a:r>
            <a:endParaRPr b="1" sz="1800">
              <a:highlight>
                <a:srgbClr val="FFFFFF"/>
              </a:highlight>
            </a:endParaRPr>
          </a:p>
          <a:p>
            <a:pPr indent="0" lvl="0" marL="0" rtl="0" algn="l">
              <a:lnSpc>
                <a:spcPct val="150000"/>
              </a:lnSpc>
              <a:spcBef>
                <a:spcPts val="0"/>
              </a:spcBef>
              <a:spcAft>
                <a:spcPts val="0"/>
              </a:spcAft>
              <a:buNone/>
            </a:pPr>
            <a:r>
              <a:t/>
            </a:r>
            <a:endParaRPr i="1" sz="16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82" name="Google Shape;182;p2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3" name="Google Shape;183;p24"/>
          <p:cNvPicPr preferRelativeResize="0"/>
          <p:nvPr/>
        </p:nvPicPr>
        <p:blipFill>
          <a:blip r:embed="rId3">
            <a:alphaModFix/>
          </a:blip>
          <a:stretch>
            <a:fillRect/>
          </a:stretch>
        </p:blipFill>
        <p:spPr>
          <a:xfrm>
            <a:off x="108350" y="1205100"/>
            <a:ext cx="4573750" cy="3544800"/>
          </a:xfrm>
          <a:prstGeom prst="rect">
            <a:avLst/>
          </a:prstGeom>
          <a:noFill/>
          <a:ln>
            <a:noFill/>
          </a:ln>
        </p:spPr>
      </p:pic>
      <p:sp>
        <p:nvSpPr>
          <p:cNvPr id="184" name="Google Shape;184;p24"/>
          <p:cNvSpPr txBox="1"/>
          <p:nvPr/>
        </p:nvSpPr>
        <p:spPr>
          <a:xfrm>
            <a:off x="1950350" y="4790200"/>
            <a:ext cx="23463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Unpruned</a:t>
            </a:r>
            <a:r>
              <a:rPr b="1" lang="en" sz="1200">
                <a:solidFill>
                  <a:schemeClr val="dk2"/>
                </a:solidFill>
                <a:latin typeface="Roboto"/>
                <a:ea typeface="Roboto"/>
                <a:cs typeface="Roboto"/>
                <a:sym typeface="Roboto"/>
              </a:rPr>
              <a:t> tree</a:t>
            </a:r>
            <a:endParaRPr b="1" sz="1200">
              <a:solidFill>
                <a:schemeClr val="dk2"/>
              </a:solidFill>
              <a:latin typeface="Roboto"/>
              <a:ea typeface="Roboto"/>
              <a:cs typeface="Roboto"/>
              <a:sym typeface="Roboto"/>
            </a:endParaRPr>
          </a:p>
        </p:txBody>
      </p:sp>
      <p:pic>
        <p:nvPicPr>
          <p:cNvPr id="185" name="Google Shape;185;p24"/>
          <p:cNvPicPr preferRelativeResize="0"/>
          <p:nvPr/>
        </p:nvPicPr>
        <p:blipFill>
          <a:blip r:embed="rId4">
            <a:alphaModFix/>
          </a:blip>
          <a:stretch>
            <a:fillRect/>
          </a:stretch>
        </p:blipFill>
        <p:spPr>
          <a:xfrm>
            <a:off x="5205350" y="1245400"/>
            <a:ext cx="3669175" cy="3669175"/>
          </a:xfrm>
          <a:prstGeom prst="rect">
            <a:avLst/>
          </a:prstGeom>
          <a:noFill/>
          <a:ln>
            <a:noFill/>
          </a:ln>
        </p:spPr>
      </p:pic>
      <p:sp>
        <p:nvSpPr>
          <p:cNvPr id="186" name="Google Shape;186;p24"/>
          <p:cNvSpPr txBox="1"/>
          <p:nvPr/>
        </p:nvSpPr>
        <p:spPr>
          <a:xfrm>
            <a:off x="5866788" y="4790200"/>
            <a:ext cx="2346300" cy="3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pruned</a:t>
            </a:r>
            <a:r>
              <a:rPr b="1" lang="en" sz="1200">
                <a:solidFill>
                  <a:schemeClr val="dk2"/>
                </a:solidFill>
                <a:latin typeface="Roboto"/>
                <a:ea typeface="Roboto"/>
                <a:cs typeface="Roboto"/>
                <a:sym typeface="Roboto"/>
              </a:rPr>
              <a:t> tree</a:t>
            </a:r>
            <a:endParaRPr b="1" sz="12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192" name="Google Shape;192;p25"/>
          <p:cNvSpPr txBox="1"/>
          <p:nvPr/>
        </p:nvSpPr>
        <p:spPr>
          <a:xfrm>
            <a:off x="492975" y="733675"/>
            <a:ext cx="84462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Comparison of Models - Binary classification</a:t>
            </a:r>
            <a:endParaRPr b="1" sz="1800">
              <a:highlight>
                <a:srgbClr val="FFFFFF"/>
              </a:highlight>
            </a:endParaRPr>
          </a:p>
          <a:p>
            <a:pPr indent="0" lvl="0" marL="0" rtl="0" algn="l">
              <a:lnSpc>
                <a:spcPct val="115000"/>
              </a:lnSpc>
              <a:spcBef>
                <a:spcPts val="0"/>
              </a:spcBef>
              <a:spcAft>
                <a:spcPts val="0"/>
              </a:spcAft>
              <a:buNone/>
            </a:pPr>
            <a:r>
              <a:t/>
            </a:r>
            <a:endParaRPr b="1" sz="1800">
              <a:highlight>
                <a:srgbClr val="FFFFFF"/>
              </a:highlight>
            </a:endParaRPr>
          </a:p>
          <a:p>
            <a:pPr indent="0" lvl="0" marL="0" rtl="0" algn="l">
              <a:lnSpc>
                <a:spcPct val="150000"/>
              </a:lnSpc>
              <a:spcBef>
                <a:spcPts val="0"/>
              </a:spcBef>
              <a:spcAft>
                <a:spcPts val="0"/>
              </a:spcAft>
              <a:buNone/>
            </a:pPr>
            <a:r>
              <a:t/>
            </a:r>
            <a:endParaRPr i="1" sz="16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193" name="Google Shape;193;p2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25"/>
          <p:cNvSpPr txBox="1"/>
          <p:nvPr/>
        </p:nvSpPr>
        <p:spPr>
          <a:xfrm>
            <a:off x="1950350" y="4790200"/>
            <a:ext cx="2346300" cy="30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Roboto"/>
                <a:ea typeface="Roboto"/>
                <a:cs typeface="Roboto"/>
                <a:sym typeface="Roboto"/>
              </a:rPr>
              <a:t>Unpruned tree</a:t>
            </a:r>
            <a:endParaRPr b="1" sz="1200">
              <a:solidFill>
                <a:schemeClr val="dk2"/>
              </a:solidFill>
              <a:latin typeface="Roboto"/>
              <a:ea typeface="Roboto"/>
              <a:cs typeface="Roboto"/>
              <a:sym typeface="Roboto"/>
            </a:endParaRPr>
          </a:p>
        </p:txBody>
      </p:sp>
      <p:sp>
        <p:nvSpPr>
          <p:cNvPr id="195" name="Google Shape;195;p25"/>
          <p:cNvSpPr txBox="1"/>
          <p:nvPr/>
        </p:nvSpPr>
        <p:spPr>
          <a:xfrm>
            <a:off x="5866788" y="4790200"/>
            <a:ext cx="2346300" cy="3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pruned tree</a:t>
            </a:r>
            <a:endParaRPr b="1" sz="1200">
              <a:solidFill>
                <a:schemeClr val="dk2"/>
              </a:solidFill>
              <a:latin typeface="Roboto"/>
              <a:ea typeface="Roboto"/>
              <a:cs typeface="Roboto"/>
              <a:sym typeface="Roboto"/>
            </a:endParaRPr>
          </a:p>
        </p:txBody>
      </p:sp>
      <p:sp>
        <p:nvSpPr>
          <p:cNvPr id="196" name="Google Shape;196;p25"/>
          <p:cNvSpPr txBox="1"/>
          <p:nvPr/>
        </p:nvSpPr>
        <p:spPr>
          <a:xfrm>
            <a:off x="721725" y="1275600"/>
            <a:ext cx="4028100" cy="2729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Test error was computed.</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Decision tree model achieved the lowest test error.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Model suffered from class </a:t>
            </a:r>
            <a:r>
              <a:rPr lang="en" sz="1800">
                <a:solidFill>
                  <a:schemeClr val="dk2"/>
                </a:solidFill>
                <a:latin typeface="Roboto"/>
                <a:ea typeface="Roboto"/>
                <a:cs typeface="Roboto"/>
                <a:sym typeface="Roboto"/>
              </a:rPr>
              <a:t>imbalance</a:t>
            </a:r>
            <a:r>
              <a:rPr lang="en" sz="1800">
                <a:solidFill>
                  <a:schemeClr val="dk2"/>
                </a:solidFill>
                <a:latin typeface="Roboto"/>
                <a:ea typeface="Roboto"/>
                <a:cs typeface="Roboto"/>
                <a:sym typeface="Roboto"/>
              </a:rPr>
              <a:t>.</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Majority class: “Never used”</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p:txBody>
      </p:sp>
      <p:graphicFrame>
        <p:nvGraphicFramePr>
          <p:cNvPr id="197" name="Google Shape;197;p25"/>
          <p:cNvGraphicFramePr/>
          <p:nvPr/>
        </p:nvGraphicFramePr>
        <p:xfrm>
          <a:off x="5710713" y="892925"/>
          <a:ext cx="3000000" cy="3000000"/>
        </p:xfrm>
        <a:graphic>
          <a:graphicData uri="http://schemas.openxmlformats.org/drawingml/2006/table">
            <a:tbl>
              <a:tblPr>
                <a:noFill/>
                <a:tableStyleId>{5014C89C-BF61-4E7B-B3A4-B0BFC960C7E3}</a:tableStyleId>
              </a:tblPr>
              <a:tblGrid>
                <a:gridCol w="1625050"/>
                <a:gridCol w="1033425"/>
              </a:tblGrid>
              <a:tr h="556975">
                <a:tc>
                  <a:txBody>
                    <a:bodyPr/>
                    <a:lstStyle/>
                    <a:p>
                      <a:pPr indent="0" lvl="0" marL="0" rtl="0" algn="ctr">
                        <a:lnSpc>
                          <a:spcPct val="115000"/>
                        </a:lnSpc>
                        <a:spcBef>
                          <a:spcPts val="0"/>
                        </a:spcBef>
                        <a:spcAft>
                          <a:spcPts val="0"/>
                        </a:spcAft>
                        <a:buNone/>
                      </a:pPr>
                      <a:r>
                        <a:rPr b="1" lang="en" sz="1300"/>
                        <a:t>Model</a:t>
                      </a:r>
                      <a:endParaRPr b="1" sz="1300"/>
                    </a:p>
                  </a:txBody>
                  <a:tcPr marT="38100" marB="38100" marR="76200" marL="7620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t>test_error</a:t>
                      </a:r>
                      <a:endParaRPr b="1" sz="1300"/>
                    </a:p>
                  </a:txBody>
                  <a:tcPr marT="38100" marB="38100" marR="76200" marL="7620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56975">
                <a:tc>
                  <a:txBody>
                    <a:bodyPr/>
                    <a:lstStyle/>
                    <a:p>
                      <a:pPr indent="0" lvl="0" marL="0" rtl="0" algn="ctr">
                        <a:lnSpc>
                          <a:spcPct val="115000"/>
                        </a:lnSpc>
                        <a:spcBef>
                          <a:spcPts val="0"/>
                        </a:spcBef>
                        <a:spcAft>
                          <a:spcPts val="0"/>
                        </a:spcAft>
                        <a:buNone/>
                      </a:pPr>
                      <a:r>
                        <a:rPr lang="en" sz="1300"/>
                        <a:t>Decision Tree</a:t>
                      </a:r>
                      <a:endParaRPr sz="1300"/>
                    </a:p>
                  </a:txBody>
                  <a:tcPr marT="38100" marB="38100" marR="76200" marL="762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0.2594128</a:t>
                      </a:r>
                      <a:endParaRPr sz="1300"/>
                    </a:p>
                  </a:txBody>
                  <a:tcPr marT="38100" marB="38100" marR="76200" marL="762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56975">
                <a:tc>
                  <a:txBody>
                    <a:bodyPr/>
                    <a:lstStyle/>
                    <a:p>
                      <a:pPr indent="0" lvl="0" marL="0" rtl="0" algn="ctr">
                        <a:lnSpc>
                          <a:spcPct val="115000"/>
                        </a:lnSpc>
                        <a:spcBef>
                          <a:spcPts val="0"/>
                        </a:spcBef>
                        <a:spcAft>
                          <a:spcPts val="0"/>
                        </a:spcAft>
                        <a:buNone/>
                      </a:pPr>
                      <a:r>
                        <a:rPr lang="en" sz="1300"/>
                        <a:t>Random Forest</a:t>
                      </a:r>
                      <a:endParaRPr sz="1300"/>
                    </a:p>
                  </a:txBody>
                  <a:tcPr marT="38100" marB="38100" marR="76200" marL="762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0.2666667</a:t>
                      </a:r>
                      <a:endParaRPr sz="1300"/>
                    </a:p>
                  </a:txBody>
                  <a:tcPr marT="38100" marB="38100" marR="76200" marL="762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56975">
                <a:tc>
                  <a:txBody>
                    <a:bodyPr/>
                    <a:lstStyle/>
                    <a:p>
                      <a:pPr indent="0" lvl="0" marL="0" rtl="0" algn="ctr">
                        <a:lnSpc>
                          <a:spcPct val="115000"/>
                        </a:lnSpc>
                        <a:spcBef>
                          <a:spcPts val="0"/>
                        </a:spcBef>
                        <a:spcAft>
                          <a:spcPts val="0"/>
                        </a:spcAft>
                        <a:buNone/>
                      </a:pPr>
                      <a:r>
                        <a:rPr lang="en" sz="1300"/>
                        <a:t>Bagging</a:t>
                      </a:r>
                      <a:endParaRPr sz="1300"/>
                    </a:p>
                  </a:txBody>
                  <a:tcPr marT="38100" marB="38100" marR="76200" marL="762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0.2943005</a:t>
                      </a:r>
                      <a:endParaRPr sz="1300"/>
                    </a:p>
                  </a:txBody>
                  <a:tcPr marT="38100" marB="38100" marR="76200" marL="7620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203" name="Google Shape;203;p26"/>
          <p:cNvSpPr txBox="1"/>
          <p:nvPr/>
        </p:nvSpPr>
        <p:spPr>
          <a:xfrm>
            <a:off x="472825" y="733675"/>
            <a:ext cx="84462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highlight>
                  <a:srgbClr val="FFFFFF"/>
                </a:highlight>
              </a:rPr>
              <a:t>Multi-Class Classification</a:t>
            </a:r>
            <a:r>
              <a:rPr b="1" lang="en" sz="1800">
                <a:highlight>
                  <a:srgbClr val="FFFFFF"/>
                </a:highlight>
              </a:rPr>
              <a:t> Problem - Random Forest</a:t>
            </a:r>
            <a:endParaRPr b="1" sz="1800">
              <a:highlight>
                <a:srgbClr val="FFFFFF"/>
              </a:highlight>
            </a:endParaRPr>
          </a:p>
          <a:p>
            <a:pPr indent="0" lvl="0" marL="0" rtl="0" algn="l">
              <a:lnSpc>
                <a:spcPct val="115000"/>
              </a:lnSpc>
              <a:spcBef>
                <a:spcPts val="0"/>
              </a:spcBef>
              <a:spcAft>
                <a:spcPts val="0"/>
              </a:spcAft>
              <a:buNone/>
            </a:pPr>
            <a:r>
              <a:t/>
            </a:r>
            <a:endParaRPr b="1" sz="1800">
              <a:highlight>
                <a:srgbClr val="FFFFFF"/>
              </a:highlight>
            </a:endParaRPr>
          </a:p>
          <a:p>
            <a:pPr indent="-342900" lvl="0" marL="457200" rtl="0" algn="l">
              <a:lnSpc>
                <a:spcPct val="115000"/>
              </a:lnSpc>
              <a:spcBef>
                <a:spcPts val="0"/>
              </a:spcBef>
              <a:spcAft>
                <a:spcPts val="0"/>
              </a:spcAft>
              <a:buSzPts val="1800"/>
              <a:buChar char="-"/>
            </a:pPr>
            <a:r>
              <a:rPr lang="en" sz="1800">
                <a:highlight>
                  <a:srgbClr val="FFFFFF"/>
                </a:highlight>
              </a:rPr>
              <a:t>The variables of most importance in predicting if a youth consumes drug include:</a:t>
            </a:r>
            <a:endParaRPr sz="1800">
              <a:highlight>
                <a:srgbClr val="FFFFFF"/>
              </a:highlight>
            </a:endParaRPr>
          </a:p>
          <a:p>
            <a:pPr indent="-342900" lvl="1" marL="914400" rtl="0" algn="l">
              <a:lnSpc>
                <a:spcPct val="115000"/>
              </a:lnSpc>
              <a:spcBef>
                <a:spcPts val="0"/>
              </a:spcBef>
              <a:spcAft>
                <a:spcPts val="0"/>
              </a:spcAft>
              <a:buSzPts val="1800"/>
              <a:buChar char="-"/>
            </a:pPr>
            <a:r>
              <a:rPr lang="en" sz="1800">
                <a:highlight>
                  <a:srgbClr val="FFFFFF"/>
                </a:highlight>
              </a:rPr>
              <a:t>Parent_Disapproval_Marijuana(PRMJEVR2)</a:t>
            </a:r>
            <a:endParaRPr sz="1800">
              <a:highlight>
                <a:srgbClr val="FFFFFF"/>
              </a:highlight>
            </a:endParaRPr>
          </a:p>
          <a:p>
            <a:pPr indent="-342900" lvl="1" marL="914400" rtl="0" algn="l">
              <a:lnSpc>
                <a:spcPct val="115000"/>
              </a:lnSpc>
              <a:spcBef>
                <a:spcPts val="0"/>
              </a:spcBef>
              <a:spcAft>
                <a:spcPts val="0"/>
              </a:spcAft>
              <a:buSzPts val="1800"/>
              <a:buChar char="-"/>
            </a:pPr>
            <a:r>
              <a:rPr lang="en" sz="1800">
                <a:highlight>
                  <a:srgbClr val="FFFFFF"/>
                </a:highlight>
              </a:rPr>
              <a:t>Poverty_Level(POVERTY3)</a:t>
            </a:r>
            <a:endParaRPr sz="1800">
              <a:highlight>
                <a:srgbClr val="FFFFFF"/>
              </a:highlight>
            </a:endParaRPr>
          </a:p>
          <a:p>
            <a:pPr indent="-342900" lvl="1" marL="914400" rtl="0" algn="l">
              <a:lnSpc>
                <a:spcPct val="115000"/>
              </a:lnSpc>
              <a:spcBef>
                <a:spcPts val="0"/>
              </a:spcBef>
              <a:spcAft>
                <a:spcPts val="0"/>
              </a:spcAft>
              <a:buSzPts val="1800"/>
              <a:buChar char="-"/>
            </a:pPr>
            <a:r>
              <a:rPr lang="en" sz="1800">
                <a:highlight>
                  <a:srgbClr val="FFFFFF"/>
                </a:highlight>
              </a:rPr>
              <a:t>Family_Income(INCOME)</a:t>
            </a:r>
            <a:endParaRPr sz="1800">
              <a:highlight>
                <a:srgbClr val="FFFFFF"/>
              </a:highlight>
            </a:endParaRPr>
          </a:p>
          <a:p>
            <a:pPr indent="-342900" lvl="1" marL="914400" rtl="0" algn="l">
              <a:lnSpc>
                <a:spcPct val="115000"/>
              </a:lnSpc>
              <a:spcBef>
                <a:spcPts val="0"/>
              </a:spcBef>
              <a:spcAft>
                <a:spcPts val="0"/>
              </a:spcAft>
              <a:buSzPts val="1800"/>
              <a:buChar char="-"/>
            </a:pPr>
            <a:r>
              <a:rPr lang="en" sz="1800">
                <a:highlight>
                  <a:srgbClr val="FFFFFF"/>
                </a:highlight>
              </a:rPr>
              <a:t>Religion_important (RLGDCSN - how important religion is to an individual’s decision)</a:t>
            </a:r>
            <a:endParaRPr sz="1800">
              <a:highlight>
                <a:srgbClr val="FFFFFF"/>
              </a:highlight>
            </a:endParaRPr>
          </a:p>
          <a:p>
            <a:pPr indent="-342900" lvl="0" marL="457200" rtl="0" algn="l">
              <a:lnSpc>
                <a:spcPct val="115000"/>
              </a:lnSpc>
              <a:spcBef>
                <a:spcPts val="0"/>
              </a:spcBef>
              <a:spcAft>
                <a:spcPts val="0"/>
              </a:spcAft>
              <a:buSzPts val="1800"/>
              <a:buChar char="-"/>
            </a:pPr>
            <a:r>
              <a:rPr lang="en" sz="1800">
                <a:highlight>
                  <a:srgbClr val="FFFFFF"/>
                </a:highlight>
              </a:rPr>
              <a:t>Obtained error rate of 7%</a:t>
            </a:r>
            <a:endParaRPr sz="18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204" name="Google Shape;204;p2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210" name="Google Shape;210;p27"/>
          <p:cNvSpPr txBox="1"/>
          <p:nvPr/>
        </p:nvSpPr>
        <p:spPr>
          <a:xfrm>
            <a:off x="311700" y="884725"/>
            <a:ext cx="51330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highlight>
                  <a:srgbClr val="FFFFFF"/>
                </a:highlight>
              </a:rPr>
              <a:t>Comparing the MSE for both models:</a:t>
            </a:r>
            <a:endParaRPr sz="1800">
              <a:highlight>
                <a:srgbClr val="FFFFFF"/>
              </a:highlight>
            </a:endParaRPr>
          </a:p>
          <a:p>
            <a:pPr indent="-342900" lvl="1" marL="914400" rtl="0" algn="l">
              <a:lnSpc>
                <a:spcPct val="115000"/>
              </a:lnSpc>
              <a:spcBef>
                <a:spcPts val="0"/>
              </a:spcBef>
              <a:spcAft>
                <a:spcPts val="0"/>
              </a:spcAft>
              <a:buSzPts val="1800"/>
              <a:buChar char="-"/>
            </a:pPr>
            <a:r>
              <a:rPr lang="en" sz="1800">
                <a:highlight>
                  <a:srgbClr val="FFFFFF"/>
                </a:highlight>
              </a:rPr>
              <a:t>Boosting model outperformed random forest </a:t>
            </a:r>
            <a:r>
              <a:rPr lang="en" sz="1800">
                <a:highlight>
                  <a:srgbClr val="FFFFFF"/>
                </a:highlight>
              </a:rPr>
              <a:t>with</a:t>
            </a:r>
            <a:r>
              <a:rPr lang="en" sz="1800">
                <a:highlight>
                  <a:srgbClr val="FFFFFF"/>
                </a:highlight>
              </a:rPr>
              <a:t> a substantially lower MSE (12,633 vs 20,647)</a:t>
            </a:r>
            <a:endParaRPr sz="1800">
              <a:highlight>
                <a:srgbClr val="FFFFFF"/>
              </a:highlight>
            </a:endParaRPr>
          </a:p>
          <a:p>
            <a:pPr indent="-342900" lvl="1" marL="914400" rtl="0" algn="l">
              <a:lnSpc>
                <a:spcPct val="115000"/>
              </a:lnSpc>
              <a:spcBef>
                <a:spcPts val="0"/>
              </a:spcBef>
              <a:spcAft>
                <a:spcPts val="0"/>
              </a:spcAft>
              <a:buSzPts val="1800"/>
              <a:buChar char="-"/>
            </a:pPr>
            <a:r>
              <a:rPr lang="en" sz="1800">
                <a:highlight>
                  <a:srgbClr val="FFFFFF"/>
                </a:highlight>
              </a:rPr>
              <a:t>This indicates that Boosting better captures non linear relationships in data by sequentially improving on weak learners. </a:t>
            </a:r>
            <a:endParaRPr sz="18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211" name="Google Shape;211;p2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12" name="Google Shape;212;p27"/>
          <p:cNvGraphicFramePr/>
          <p:nvPr/>
        </p:nvGraphicFramePr>
        <p:xfrm>
          <a:off x="6043625" y="1360850"/>
          <a:ext cx="3000000" cy="3000000"/>
        </p:xfrm>
        <a:graphic>
          <a:graphicData uri="http://schemas.openxmlformats.org/drawingml/2006/table">
            <a:tbl>
              <a:tblPr>
                <a:noFill/>
                <a:tableStyleId>{5014C89C-BF61-4E7B-B3A4-B0BFC960C7E3}</a:tableStyleId>
              </a:tblPr>
              <a:tblGrid>
                <a:gridCol w="1685925"/>
                <a:gridCol w="666750"/>
              </a:tblGrid>
              <a:tr h="701375">
                <a:tc>
                  <a:txBody>
                    <a:bodyPr/>
                    <a:lstStyle/>
                    <a:p>
                      <a:pPr indent="0" lvl="0" marL="0" rtl="0" algn="ctr">
                        <a:lnSpc>
                          <a:spcPct val="115000"/>
                        </a:lnSpc>
                        <a:spcBef>
                          <a:spcPts val="0"/>
                        </a:spcBef>
                        <a:spcAft>
                          <a:spcPts val="0"/>
                        </a:spcAft>
                        <a:buNone/>
                      </a:pPr>
                      <a:r>
                        <a:rPr b="1" lang="en" sz="900"/>
                        <a:t>Model</a:t>
                      </a:r>
                      <a:endParaRPr b="1" sz="900"/>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t>MSE</a:t>
                      </a:r>
                      <a:endParaRPr b="1" sz="900"/>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701375">
                <a:tc>
                  <a:txBody>
                    <a:bodyPr/>
                    <a:lstStyle/>
                    <a:p>
                      <a:pPr indent="0" lvl="0" marL="0" rtl="0" algn="ctr">
                        <a:lnSpc>
                          <a:spcPct val="115000"/>
                        </a:lnSpc>
                        <a:spcBef>
                          <a:spcPts val="0"/>
                        </a:spcBef>
                        <a:spcAft>
                          <a:spcPts val="0"/>
                        </a:spcAft>
                        <a:buNone/>
                      </a:pPr>
                      <a:r>
                        <a:rPr lang="en" sz="900"/>
                        <a:t>Random Forest (Regression)</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20647.35</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701375">
                <a:tc>
                  <a:txBody>
                    <a:bodyPr/>
                    <a:lstStyle/>
                    <a:p>
                      <a:pPr indent="0" lvl="0" marL="0" rtl="0" algn="ctr">
                        <a:lnSpc>
                          <a:spcPct val="115000"/>
                        </a:lnSpc>
                        <a:spcBef>
                          <a:spcPts val="0"/>
                        </a:spcBef>
                        <a:spcAft>
                          <a:spcPts val="0"/>
                        </a:spcAft>
                        <a:buNone/>
                      </a:pPr>
                      <a:r>
                        <a:rPr lang="en" sz="900"/>
                        <a:t>Boosting (GBM)</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12633.02</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a:t>
            </a:r>
            <a:endParaRPr/>
          </a:p>
        </p:txBody>
      </p:sp>
      <p:sp>
        <p:nvSpPr>
          <p:cNvPr id="218" name="Google Shape;218;p28"/>
          <p:cNvSpPr txBox="1"/>
          <p:nvPr/>
        </p:nvSpPr>
        <p:spPr>
          <a:xfrm>
            <a:off x="311700" y="884725"/>
            <a:ext cx="51330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highlight>
                  <a:srgbClr val="FFFFFF"/>
                </a:highlight>
              </a:rPr>
              <a:t>Challenges</a:t>
            </a:r>
            <a:endParaRPr sz="1800">
              <a:highlight>
                <a:srgbClr val="FFFFFF"/>
              </a:highlight>
            </a:endParaRPr>
          </a:p>
          <a:p>
            <a:pPr indent="-342900" lvl="0" marL="457200" rtl="0" algn="l">
              <a:lnSpc>
                <a:spcPct val="115000"/>
              </a:lnSpc>
              <a:spcBef>
                <a:spcPts val="0"/>
              </a:spcBef>
              <a:spcAft>
                <a:spcPts val="0"/>
              </a:spcAft>
              <a:buSzPts val="1800"/>
              <a:buChar char="-"/>
            </a:pPr>
            <a:r>
              <a:rPr lang="en" sz="1800">
                <a:highlight>
                  <a:srgbClr val="FFFFFF"/>
                </a:highlight>
              </a:rPr>
              <a:t>Class imbalance </a:t>
            </a:r>
            <a:endParaRPr sz="1800">
              <a:highlight>
                <a:srgbClr val="FFFFFF"/>
              </a:highlight>
            </a:endParaRPr>
          </a:p>
          <a:p>
            <a:pPr indent="-342900" lvl="0" marL="457200" rtl="0" algn="l">
              <a:lnSpc>
                <a:spcPct val="115000"/>
              </a:lnSpc>
              <a:spcBef>
                <a:spcPts val="0"/>
              </a:spcBef>
              <a:spcAft>
                <a:spcPts val="0"/>
              </a:spcAft>
              <a:buSzPts val="1800"/>
              <a:buChar char="-"/>
            </a:pPr>
            <a:r>
              <a:rPr lang="en" sz="1800">
                <a:highlight>
                  <a:srgbClr val="FFFFFF"/>
                </a:highlight>
              </a:rPr>
              <a:t>Metrics for comparison</a:t>
            </a:r>
            <a:endParaRPr sz="1800">
              <a:highlight>
                <a:srgbClr val="FFFFFF"/>
              </a:highlight>
            </a:endParaRPr>
          </a:p>
          <a:p>
            <a:pPr indent="0" lvl="0" marL="0" rtl="0" algn="l">
              <a:lnSpc>
                <a:spcPct val="115000"/>
              </a:lnSpc>
              <a:spcBef>
                <a:spcPts val="0"/>
              </a:spcBef>
              <a:spcAft>
                <a:spcPts val="0"/>
              </a:spcAft>
              <a:buNone/>
            </a:pPr>
            <a:r>
              <a:t/>
            </a:r>
            <a:endParaRPr sz="1800">
              <a:highlight>
                <a:srgbClr val="FFFFFF"/>
              </a:highlight>
            </a:endParaRPr>
          </a:p>
          <a:p>
            <a:pPr indent="0" lvl="0" marL="0" rtl="0" algn="l">
              <a:lnSpc>
                <a:spcPct val="115000"/>
              </a:lnSpc>
              <a:spcBef>
                <a:spcPts val="0"/>
              </a:spcBef>
              <a:spcAft>
                <a:spcPts val="0"/>
              </a:spcAft>
              <a:buNone/>
            </a:pPr>
            <a:r>
              <a:rPr lang="en" sz="1800">
                <a:highlight>
                  <a:srgbClr val="FFFFFF"/>
                </a:highlight>
              </a:rPr>
              <a:t>To improve model:</a:t>
            </a:r>
            <a:endParaRPr sz="1800">
              <a:highlight>
                <a:srgbClr val="FFFFFF"/>
              </a:highlight>
            </a:endParaRPr>
          </a:p>
          <a:p>
            <a:pPr indent="-342900" lvl="0" marL="457200" rtl="0" algn="l">
              <a:lnSpc>
                <a:spcPct val="115000"/>
              </a:lnSpc>
              <a:spcBef>
                <a:spcPts val="0"/>
              </a:spcBef>
              <a:spcAft>
                <a:spcPts val="0"/>
              </a:spcAft>
              <a:buSzPts val="1800"/>
              <a:buChar char="-"/>
            </a:pPr>
            <a:r>
              <a:rPr lang="en" sz="1800">
                <a:highlight>
                  <a:srgbClr val="FFFFFF"/>
                </a:highlight>
              </a:rPr>
              <a:t>Might need to assign class weights during training </a:t>
            </a:r>
            <a:endParaRPr sz="1800">
              <a:highlight>
                <a:srgbClr val="FFFFFF"/>
              </a:highlight>
            </a:endParaRPr>
          </a:p>
          <a:p>
            <a:pPr indent="-342900" lvl="0" marL="457200" rtl="0" algn="l">
              <a:lnSpc>
                <a:spcPct val="115000"/>
              </a:lnSpc>
              <a:spcBef>
                <a:spcPts val="0"/>
              </a:spcBef>
              <a:spcAft>
                <a:spcPts val="0"/>
              </a:spcAft>
              <a:buSzPts val="1800"/>
              <a:buChar char="-"/>
            </a:pPr>
            <a:r>
              <a:rPr lang="en" sz="1800">
                <a:highlight>
                  <a:srgbClr val="FFFFFF"/>
                </a:highlight>
              </a:rPr>
              <a:t>Further </a:t>
            </a:r>
            <a:r>
              <a:rPr lang="en" sz="1800">
                <a:highlight>
                  <a:srgbClr val="FFFFFF"/>
                </a:highlight>
              </a:rPr>
              <a:t>evaluation</a:t>
            </a:r>
            <a:r>
              <a:rPr lang="en" sz="1800">
                <a:highlight>
                  <a:srgbClr val="FFFFFF"/>
                </a:highlight>
              </a:rPr>
              <a:t> might be needed using other metics not impacted by class imbalance(i.e. Macro F1)</a:t>
            </a:r>
            <a:endParaRPr sz="1800">
              <a:highlight>
                <a:srgbClr val="FFFFFF"/>
              </a:highlight>
            </a:endParaRPr>
          </a:p>
          <a:p>
            <a:pPr indent="0" lvl="0" marL="914400" rtl="0" algn="l">
              <a:lnSpc>
                <a:spcPct val="115000"/>
              </a:lnSpc>
              <a:spcBef>
                <a:spcPts val="0"/>
              </a:spcBef>
              <a:spcAft>
                <a:spcPts val="0"/>
              </a:spcAft>
              <a:buNone/>
            </a:pPr>
            <a:r>
              <a:t/>
            </a:r>
            <a:endParaRPr i="1"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219" name="Google Shape;219;p2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20" name="Google Shape;220;p28"/>
          <p:cNvGraphicFramePr/>
          <p:nvPr/>
        </p:nvGraphicFramePr>
        <p:xfrm>
          <a:off x="5882500" y="1290350"/>
          <a:ext cx="3000000" cy="3000000"/>
        </p:xfrm>
        <a:graphic>
          <a:graphicData uri="http://schemas.openxmlformats.org/drawingml/2006/table">
            <a:tbl>
              <a:tblPr>
                <a:noFill/>
                <a:tableStyleId>{5014C89C-BF61-4E7B-B3A4-B0BFC960C7E3}</a:tableStyleId>
              </a:tblPr>
              <a:tblGrid>
                <a:gridCol w="2113825"/>
                <a:gridCol w="835975"/>
              </a:tblGrid>
              <a:tr h="983350">
                <a:tc>
                  <a:txBody>
                    <a:bodyPr/>
                    <a:lstStyle/>
                    <a:p>
                      <a:pPr indent="0" lvl="0" marL="0" rtl="0" algn="ctr">
                        <a:lnSpc>
                          <a:spcPct val="115000"/>
                        </a:lnSpc>
                        <a:spcBef>
                          <a:spcPts val="0"/>
                        </a:spcBef>
                        <a:spcAft>
                          <a:spcPts val="0"/>
                        </a:spcAft>
                        <a:buNone/>
                      </a:pPr>
                      <a:r>
                        <a:rPr b="1" lang="en" sz="900"/>
                        <a:t>Model</a:t>
                      </a:r>
                      <a:endParaRPr b="1" sz="900"/>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t>MSE</a:t>
                      </a:r>
                      <a:endParaRPr b="1" sz="900"/>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83350">
                <a:tc>
                  <a:txBody>
                    <a:bodyPr/>
                    <a:lstStyle/>
                    <a:p>
                      <a:pPr indent="0" lvl="0" marL="0" rtl="0" algn="ctr">
                        <a:lnSpc>
                          <a:spcPct val="115000"/>
                        </a:lnSpc>
                        <a:spcBef>
                          <a:spcPts val="0"/>
                        </a:spcBef>
                        <a:spcAft>
                          <a:spcPts val="0"/>
                        </a:spcAft>
                        <a:buNone/>
                      </a:pPr>
                      <a:r>
                        <a:rPr lang="en" sz="900"/>
                        <a:t>Random Forest (Regression)</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20647.35</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983350">
                <a:tc>
                  <a:txBody>
                    <a:bodyPr/>
                    <a:lstStyle/>
                    <a:p>
                      <a:pPr indent="0" lvl="0" marL="0" rtl="0" algn="ctr">
                        <a:lnSpc>
                          <a:spcPct val="115000"/>
                        </a:lnSpc>
                        <a:spcBef>
                          <a:spcPts val="0"/>
                        </a:spcBef>
                        <a:spcAft>
                          <a:spcPts val="0"/>
                        </a:spcAft>
                        <a:buNone/>
                      </a:pPr>
                      <a:r>
                        <a:rPr lang="en" sz="900"/>
                        <a:t>Boosting (GBM)</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12633.02</a:t>
                      </a:r>
                      <a:endParaRPr sz="900"/>
                    </a:p>
                  </a:txBody>
                  <a:tcPr marT="38100" marB="38100" marR="76200" marL="76200">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a:t>
            </a:r>
            <a:endParaRPr/>
          </a:p>
        </p:txBody>
      </p:sp>
      <p:sp>
        <p:nvSpPr>
          <p:cNvPr id="226" name="Google Shape;226;p29"/>
          <p:cNvSpPr txBox="1"/>
          <p:nvPr/>
        </p:nvSpPr>
        <p:spPr>
          <a:xfrm>
            <a:off x="311700" y="884725"/>
            <a:ext cx="83757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181E25"/>
                </a:solidFill>
                <a:highlight>
                  <a:srgbClr val="FFFFFF"/>
                </a:highlight>
              </a:rPr>
              <a:t>Which variables tend to be important for predicting drug use? How can these be interpreted? What are the implications of this outcome? How can you, as the data science communicator, discuss these findings in an ethical way?</a:t>
            </a:r>
            <a:endParaRPr sz="1900">
              <a:solidFill>
                <a:srgbClr val="181E25"/>
              </a:solidFill>
              <a:highlight>
                <a:srgbClr val="FFFFFF"/>
              </a:highlight>
            </a:endParaRPr>
          </a:p>
          <a:p>
            <a:pPr indent="0" lvl="0" marL="0" rtl="0" algn="l">
              <a:lnSpc>
                <a:spcPct val="115000"/>
              </a:lnSpc>
              <a:spcBef>
                <a:spcPts val="0"/>
              </a:spcBef>
              <a:spcAft>
                <a:spcPts val="0"/>
              </a:spcAft>
              <a:buNone/>
            </a:pPr>
            <a:r>
              <a:t/>
            </a:r>
            <a:endParaRPr sz="1500">
              <a:solidFill>
                <a:srgbClr val="181E25"/>
              </a:solidFill>
              <a:highlight>
                <a:srgbClr val="FFFFFF"/>
              </a:highlight>
            </a:endParaRPr>
          </a:p>
          <a:p>
            <a:pPr indent="-323850" lvl="0" marL="457200" rtl="0" algn="l">
              <a:lnSpc>
                <a:spcPct val="115000"/>
              </a:lnSpc>
              <a:spcBef>
                <a:spcPts val="0"/>
              </a:spcBef>
              <a:spcAft>
                <a:spcPts val="0"/>
              </a:spcAft>
              <a:buClr>
                <a:srgbClr val="181E25"/>
              </a:buClr>
              <a:buSzPts val="1500"/>
              <a:buChar char="-"/>
            </a:pPr>
            <a:r>
              <a:rPr lang="en" sz="1500">
                <a:solidFill>
                  <a:srgbClr val="181E25"/>
                </a:solidFill>
                <a:highlight>
                  <a:srgbClr val="FFFFFF"/>
                </a:highlight>
              </a:rPr>
              <a:t>Models identify associations and pattern in the data not causal relationships. </a:t>
            </a:r>
            <a:endParaRPr sz="1500">
              <a:solidFill>
                <a:srgbClr val="181E25"/>
              </a:solidFill>
              <a:highlight>
                <a:srgbClr val="FFFFFF"/>
              </a:highlight>
            </a:endParaRPr>
          </a:p>
          <a:p>
            <a:pPr indent="-323850" lvl="0" marL="457200" rtl="0" algn="l">
              <a:lnSpc>
                <a:spcPct val="115000"/>
              </a:lnSpc>
              <a:spcBef>
                <a:spcPts val="0"/>
              </a:spcBef>
              <a:spcAft>
                <a:spcPts val="0"/>
              </a:spcAft>
              <a:buClr>
                <a:srgbClr val="181E25"/>
              </a:buClr>
              <a:buSzPts val="1500"/>
              <a:buChar char="-"/>
            </a:pPr>
            <a:r>
              <a:rPr lang="en" sz="1500">
                <a:solidFill>
                  <a:srgbClr val="181E25"/>
                </a:solidFill>
                <a:highlight>
                  <a:srgbClr val="FFFFFF"/>
                </a:highlight>
              </a:rPr>
              <a:t>The findings found in this can help foster support for youth.</a:t>
            </a:r>
            <a:endParaRPr sz="1500">
              <a:solidFill>
                <a:srgbClr val="181E25"/>
              </a:solidFill>
              <a:highlight>
                <a:srgbClr val="FFFFFF"/>
              </a:highlight>
            </a:endParaRPr>
          </a:p>
          <a:p>
            <a:pPr indent="-323850" lvl="0" marL="457200" rtl="0" algn="l">
              <a:lnSpc>
                <a:spcPct val="115000"/>
              </a:lnSpc>
              <a:spcBef>
                <a:spcPts val="0"/>
              </a:spcBef>
              <a:spcAft>
                <a:spcPts val="0"/>
              </a:spcAft>
              <a:buClr>
                <a:srgbClr val="181E25"/>
              </a:buClr>
              <a:buSzPts val="1500"/>
              <a:buChar char="-"/>
            </a:pPr>
            <a:r>
              <a:rPr lang="en" sz="1500">
                <a:solidFill>
                  <a:srgbClr val="181E25"/>
                </a:solidFill>
                <a:highlight>
                  <a:srgbClr val="FFFFFF"/>
                </a:highlight>
              </a:rPr>
              <a:t>As a data science communicator, it’s important to avoid </a:t>
            </a:r>
            <a:r>
              <a:rPr lang="en" sz="1500">
                <a:solidFill>
                  <a:srgbClr val="181E25"/>
                </a:solidFill>
                <a:highlight>
                  <a:srgbClr val="FFFFFF"/>
                </a:highlight>
              </a:rPr>
              <a:t>discriminating</a:t>
            </a:r>
            <a:r>
              <a:rPr lang="en" sz="1500">
                <a:solidFill>
                  <a:srgbClr val="181E25"/>
                </a:solidFill>
                <a:highlight>
                  <a:srgbClr val="FFFFFF"/>
                </a:highlight>
              </a:rPr>
              <a:t> on certain groups based on some of the results we get. </a:t>
            </a:r>
            <a:endParaRPr sz="1500">
              <a:solidFill>
                <a:srgbClr val="181E25"/>
              </a:solidFill>
              <a:highlight>
                <a:srgbClr val="FFFFFF"/>
              </a:highlight>
            </a:endParaRPr>
          </a:p>
          <a:p>
            <a:pPr indent="-323850" lvl="0" marL="457200" rtl="0" algn="l">
              <a:lnSpc>
                <a:spcPct val="115000"/>
              </a:lnSpc>
              <a:spcBef>
                <a:spcPts val="0"/>
              </a:spcBef>
              <a:spcAft>
                <a:spcPts val="0"/>
              </a:spcAft>
              <a:buClr>
                <a:srgbClr val="181E25"/>
              </a:buClr>
              <a:buSzPts val="1500"/>
              <a:buChar char="-"/>
            </a:pPr>
            <a:r>
              <a:rPr lang="en" sz="1500">
                <a:solidFill>
                  <a:srgbClr val="181E25"/>
                </a:solidFill>
                <a:highlight>
                  <a:srgbClr val="FFFFFF"/>
                </a:highlight>
              </a:rPr>
              <a:t>Also, important that we don’t generalize. </a:t>
            </a:r>
            <a:endParaRPr sz="1500">
              <a:solidFill>
                <a:srgbClr val="181E25"/>
              </a:solidFill>
              <a:highlight>
                <a:srgbClr val="FFFFFF"/>
              </a:highlight>
            </a:endParaRPr>
          </a:p>
          <a:p>
            <a:pPr indent="-323850" lvl="0" marL="457200" rtl="0" algn="l">
              <a:lnSpc>
                <a:spcPct val="115000"/>
              </a:lnSpc>
              <a:spcBef>
                <a:spcPts val="0"/>
              </a:spcBef>
              <a:spcAft>
                <a:spcPts val="0"/>
              </a:spcAft>
              <a:buClr>
                <a:srgbClr val="181E25"/>
              </a:buClr>
              <a:buSzPts val="1500"/>
              <a:buChar char="-"/>
            </a:pPr>
            <a:r>
              <a:rPr lang="en" sz="1500">
                <a:solidFill>
                  <a:srgbClr val="181E25"/>
                </a:solidFill>
                <a:highlight>
                  <a:srgbClr val="FFFFFF"/>
                </a:highlight>
              </a:rPr>
              <a:t>Be upfront about some of the limitations we faced in conducting our findings such as class imbalance. </a:t>
            </a:r>
            <a:endParaRPr sz="1500">
              <a:solidFill>
                <a:srgbClr val="181E25"/>
              </a:solidFill>
              <a:highlight>
                <a:srgbClr val="FFFFFF"/>
              </a:highlight>
            </a:endParaRPr>
          </a:p>
          <a:p>
            <a:pPr indent="0" lvl="0" marL="0" rtl="0" algn="l">
              <a:lnSpc>
                <a:spcPct val="115000"/>
              </a:lnSpc>
              <a:spcBef>
                <a:spcPts val="0"/>
              </a:spcBef>
              <a:spcAft>
                <a:spcPts val="0"/>
              </a:spcAft>
              <a:buNone/>
            </a:pPr>
            <a:r>
              <a:t/>
            </a:r>
            <a:endParaRPr sz="1500">
              <a:solidFill>
                <a:srgbClr val="181E25"/>
              </a:solidFill>
              <a:highlight>
                <a:srgbClr val="FFFFFF"/>
              </a:highlight>
            </a:endParaRPr>
          </a:p>
          <a:p>
            <a:pPr indent="0" lvl="0" marL="0" rtl="0" algn="l">
              <a:lnSpc>
                <a:spcPct val="115000"/>
              </a:lnSpc>
              <a:spcBef>
                <a:spcPts val="0"/>
              </a:spcBef>
              <a:spcAft>
                <a:spcPts val="0"/>
              </a:spcAft>
              <a:buNone/>
            </a:pPr>
            <a:r>
              <a:t/>
            </a:r>
            <a:endParaRPr sz="1500">
              <a:solidFill>
                <a:srgbClr val="181E25"/>
              </a:solidFill>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227" name="Google Shape;227;p2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0"/>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a:t>
            </a:r>
            <a:endParaRPr/>
          </a:p>
        </p:txBody>
      </p:sp>
      <p:sp>
        <p:nvSpPr>
          <p:cNvPr id="233" name="Google Shape;233;p30"/>
          <p:cNvSpPr txBox="1"/>
          <p:nvPr/>
        </p:nvSpPr>
        <p:spPr>
          <a:xfrm>
            <a:off x="311700" y="884725"/>
            <a:ext cx="8375700" cy="348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rgbClr val="181E25"/>
                </a:solidFill>
                <a:highlight>
                  <a:srgbClr val="FFFFFF"/>
                </a:highlight>
              </a:rPr>
              <a:t>Some of these variables are the same information coded into binary, ordinal (categorical and ordered), and numerical variables. How do the predictions change using each data type? What is each telling you, and when is it appropriate to use each?</a:t>
            </a:r>
            <a:endParaRPr sz="1600">
              <a:solidFill>
                <a:srgbClr val="181E25"/>
              </a:solidFill>
              <a:highlight>
                <a:srgbClr val="FFFFFF"/>
              </a:highlight>
            </a:endParaRPr>
          </a:p>
          <a:p>
            <a:pPr indent="-330200" lvl="0" marL="457200" rtl="0" algn="l">
              <a:lnSpc>
                <a:spcPct val="115000"/>
              </a:lnSpc>
              <a:spcBef>
                <a:spcPts val="500"/>
              </a:spcBef>
              <a:spcAft>
                <a:spcPts val="0"/>
              </a:spcAft>
              <a:buClr>
                <a:srgbClr val="181E25"/>
              </a:buClr>
              <a:buSzPts val="1600"/>
              <a:buChar char="-"/>
            </a:pPr>
            <a:r>
              <a:rPr lang="en" sz="1600">
                <a:solidFill>
                  <a:srgbClr val="181E25"/>
                </a:solidFill>
                <a:highlight>
                  <a:srgbClr val="FFFFFF"/>
                </a:highlight>
              </a:rPr>
              <a:t>Binary</a:t>
            </a:r>
            <a:endParaRPr sz="1600">
              <a:solidFill>
                <a:srgbClr val="181E25"/>
              </a:solidFill>
              <a:highlight>
                <a:srgbClr val="FFFFFF"/>
              </a:highlight>
            </a:endParaRPr>
          </a:p>
          <a:p>
            <a:pPr indent="-330200" lvl="0" marL="457200" rtl="0" algn="l">
              <a:lnSpc>
                <a:spcPct val="115000"/>
              </a:lnSpc>
              <a:spcBef>
                <a:spcPts val="0"/>
              </a:spcBef>
              <a:spcAft>
                <a:spcPts val="0"/>
              </a:spcAft>
              <a:buClr>
                <a:srgbClr val="181E25"/>
              </a:buClr>
              <a:buSzPts val="1600"/>
              <a:buChar char="-"/>
            </a:pPr>
            <a:r>
              <a:rPr lang="en" sz="1600">
                <a:solidFill>
                  <a:srgbClr val="181E25"/>
                </a:solidFill>
                <a:highlight>
                  <a:srgbClr val="FFFFFF"/>
                </a:highlight>
              </a:rPr>
              <a:t>Numerical</a:t>
            </a:r>
            <a:endParaRPr sz="1600">
              <a:solidFill>
                <a:srgbClr val="181E25"/>
              </a:solidFill>
              <a:highlight>
                <a:srgbClr val="FFFFFF"/>
              </a:highlight>
            </a:endParaRPr>
          </a:p>
          <a:p>
            <a:pPr indent="-330200" lvl="0" marL="457200" rtl="0" algn="l">
              <a:lnSpc>
                <a:spcPct val="115000"/>
              </a:lnSpc>
              <a:spcBef>
                <a:spcPts val="0"/>
              </a:spcBef>
              <a:spcAft>
                <a:spcPts val="0"/>
              </a:spcAft>
              <a:buClr>
                <a:srgbClr val="181E25"/>
              </a:buClr>
              <a:buSzPts val="1600"/>
              <a:buChar char="-"/>
            </a:pPr>
            <a:r>
              <a:rPr lang="en" sz="1600">
                <a:solidFill>
                  <a:srgbClr val="181E25"/>
                </a:solidFill>
                <a:highlight>
                  <a:srgbClr val="FFFFFF"/>
                </a:highlight>
              </a:rPr>
              <a:t>Ordinal</a:t>
            </a:r>
            <a:endParaRPr sz="1600">
              <a:solidFill>
                <a:srgbClr val="181E25"/>
              </a:solidFill>
              <a:highlight>
                <a:srgbClr val="FFFFFF"/>
              </a:highlight>
            </a:endParaRPr>
          </a:p>
          <a:p>
            <a:pPr indent="0" lvl="0" marL="0" rtl="0" algn="l">
              <a:lnSpc>
                <a:spcPct val="115000"/>
              </a:lnSpc>
              <a:spcBef>
                <a:spcPts val="0"/>
              </a:spcBef>
              <a:spcAft>
                <a:spcPts val="0"/>
              </a:spcAft>
              <a:buNone/>
            </a:pPr>
            <a:r>
              <a:t/>
            </a:r>
            <a:endParaRPr sz="1500">
              <a:solidFill>
                <a:srgbClr val="181E25"/>
              </a:solidFill>
              <a:highlight>
                <a:srgbClr val="FFFFFF"/>
              </a:highlight>
            </a:endParaRPr>
          </a:p>
          <a:p>
            <a:pPr indent="0" lvl="0" marL="0" rtl="0" algn="l">
              <a:lnSpc>
                <a:spcPct val="115000"/>
              </a:lnSpc>
              <a:spcBef>
                <a:spcPts val="0"/>
              </a:spcBef>
              <a:spcAft>
                <a:spcPts val="0"/>
              </a:spcAft>
              <a:buNone/>
            </a:pPr>
            <a:r>
              <a:t/>
            </a:r>
            <a:endParaRPr sz="1500">
              <a:solidFill>
                <a:srgbClr val="181E25"/>
              </a:solidFill>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234" name="Google Shape;234;p3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txBox="1"/>
          <p:nvPr>
            <p:ph type="title"/>
          </p:nvPr>
        </p:nvSpPr>
        <p:spPr>
          <a:xfrm>
            <a:off x="311700" y="12587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240" name="Google Shape;240;p31"/>
          <p:cNvSpPr txBox="1"/>
          <p:nvPr/>
        </p:nvSpPr>
        <p:spPr>
          <a:xfrm>
            <a:off x="311700" y="884725"/>
            <a:ext cx="8395800" cy="3487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highlight>
                  <a:srgbClr val="FFFFFF"/>
                </a:highlight>
              </a:rPr>
              <a:t>Youth drug use is influenced by parental attitudes, </a:t>
            </a:r>
            <a:r>
              <a:rPr lang="en" sz="1600">
                <a:highlight>
                  <a:srgbClr val="FFFFFF"/>
                </a:highlight>
              </a:rPr>
              <a:t>socioeconomic</a:t>
            </a:r>
            <a:r>
              <a:rPr lang="en" sz="1600">
                <a:highlight>
                  <a:srgbClr val="FFFFFF"/>
                </a:highlight>
              </a:rPr>
              <a:t> status and personal values. </a:t>
            </a:r>
            <a:endParaRPr sz="1600">
              <a:highlight>
                <a:srgbClr val="FFFFFF"/>
              </a:highlight>
            </a:endParaRPr>
          </a:p>
          <a:p>
            <a:pPr indent="-330200" lvl="0" marL="457200" rtl="0" algn="l">
              <a:lnSpc>
                <a:spcPct val="115000"/>
              </a:lnSpc>
              <a:spcBef>
                <a:spcPts val="0"/>
              </a:spcBef>
              <a:spcAft>
                <a:spcPts val="0"/>
              </a:spcAft>
              <a:buSzPts val="1600"/>
              <a:buChar char="-"/>
            </a:pPr>
            <a:r>
              <a:rPr lang="en" sz="1600">
                <a:highlight>
                  <a:srgbClr val="FFFFFF"/>
                </a:highlight>
              </a:rPr>
              <a:t>In multi-class classification problem, random forest achieved low error rate (~7%) but might be misleading due to class imbalance. </a:t>
            </a:r>
            <a:endParaRPr sz="1600">
              <a:highlight>
                <a:srgbClr val="FFFFFF"/>
              </a:highlight>
            </a:endParaRPr>
          </a:p>
          <a:p>
            <a:pPr indent="-330200" lvl="0" marL="457200" rtl="0" algn="l">
              <a:lnSpc>
                <a:spcPct val="115000"/>
              </a:lnSpc>
              <a:spcBef>
                <a:spcPts val="0"/>
              </a:spcBef>
              <a:spcAft>
                <a:spcPts val="0"/>
              </a:spcAft>
              <a:buSzPts val="1600"/>
              <a:buChar char="-"/>
            </a:pPr>
            <a:r>
              <a:rPr lang="en" sz="1600">
                <a:highlight>
                  <a:srgbClr val="FFFFFF"/>
                </a:highlight>
              </a:rPr>
              <a:t>Model majorly predicted individuals as non user. </a:t>
            </a:r>
            <a:endParaRPr sz="1600">
              <a:highlight>
                <a:srgbClr val="FFFFFF"/>
              </a:highlight>
            </a:endParaRPr>
          </a:p>
          <a:p>
            <a:pPr indent="-330200" lvl="0" marL="457200" rtl="0" algn="l">
              <a:lnSpc>
                <a:spcPct val="115000"/>
              </a:lnSpc>
              <a:spcBef>
                <a:spcPts val="0"/>
              </a:spcBef>
              <a:spcAft>
                <a:spcPts val="0"/>
              </a:spcAft>
              <a:buSzPts val="1600"/>
              <a:buChar char="-"/>
            </a:pPr>
            <a:r>
              <a:rPr lang="en" sz="1600">
                <a:highlight>
                  <a:srgbClr val="FFFFFF"/>
                </a:highlight>
              </a:rPr>
              <a:t>Boosting performs better for the regression problem compared to Boosting yielding MSE (~12,633).</a:t>
            </a:r>
            <a:endParaRPr sz="1600">
              <a:highlight>
                <a:srgbClr val="FFFFFF"/>
              </a:highlight>
            </a:endParaRPr>
          </a:p>
          <a:p>
            <a:pPr indent="-330200" lvl="0" marL="457200" rtl="0" algn="l">
              <a:lnSpc>
                <a:spcPct val="115000"/>
              </a:lnSpc>
              <a:spcBef>
                <a:spcPts val="0"/>
              </a:spcBef>
              <a:spcAft>
                <a:spcPts val="0"/>
              </a:spcAft>
              <a:buSzPts val="1600"/>
              <a:buChar char="-"/>
            </a:pPr>
            <a:r>
              <a:rPr lang="en" sz="1600">
                <a:highlight>
                  <a:schemeClr val="lt1"/>
                </a:highlight>
              </a:rPr>
              <a:t>The variables of most importance in predicting if a youth consumes drug include:Parent_Disapproval_Marijuana(PRMJEVR2),Poverty_Level(POVERTY3), Family_Income(INCOME), Religion_important (RLGDCSN - how important religion is to an individual’s decision)</a:t>
            </a:r>
            <a:endParaRPr sz="1600">
              <a:highlight>
                <a:srgbClr val="FFFFFF"/>
              </a:highlight>
            </a:endParaRPr>
          </a:p>
          <a:p>
            <a:pPr indent="0" lvl="0" marL="457200" rtl="0" algn="l">
              <a:lnSpc>
                <a:spcPct val="115000"/>
              </a:lnSpc>
              <a:spcBef>
                <a:spcPts val="0"/>
              </a:spcBef>
              <a:spcAft>
                <a:spcPts val="0"/>
              </a:spcAft>
              <a:buNone/>
            </a:pPr>
            <a:r>
              <a:t/>
            </a:r>
            <a:endParaRPr>
              <a:highlight>
                <a:srgbClr val="FFFFFF"/>
              </a:highlight>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
        <p:nvSpPr>
          <p:cNvPr id="241" name="Google Shape;241;p3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ctrTitle"/>
          </p:nvPr>
        </p:nvSpPr>
        <p:spPr>
          <a:xfrm>
            <a:off x="2854650" y="2262400"/>
            <a:ext cx="3434700" cy="8388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t>Thank You!</a:t>
            </a:r>
            <a:endParaRPr sz="1800">
              <a:solidFill>
                <a:schemeClr val="lt2"/>
              </a:solidFill>
            </a:endParaRPr>
          </a:p>
        </p:txBody>
      </p:sp>
      <p:sp>
        <p:nvSpPr>
          <p:cNvPr id="247" name="Google Shape;247;p3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